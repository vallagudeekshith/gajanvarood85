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43891200" cy="32918400"/>
  <p:notesSz cx="31954788" cy="50149125"/>
  <p:embeddedFontLst>
    <p:embeddedFont>
      <p:font typeface="Libre Baskerville" panose="02000000000000000000" pitchFamily="2" charset="0"/>
      <p:regular r:id="rId5"/>
      <p:bold r:id="rId6"/>
      <p:italic r:id="rId7"/>
    </p:embeddedFont>
    <p:embeddedFont>
      <p:font typeface="Montserrat Light" panose="00000400000000000000" pitchFamily="2" charset="0"/>
      <p:regular r:id="rId8"/>
      <p:italic r:id="rId9"/>
    </p:embeddedFont>
  </p:embeddedFontLst>
  <p:custDataLst>
    <p:tags r:id="rId10"/>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9968">
          <p15:clr>
            <a:srgbClr val="A4A3A4"/>
          </p15:clr>
        </p15:guide>
        <p15:guide id="2" orient="horz" pos="5632">
          <p15:clr>
            <a:srgbClr val="A4A3A4"/>
          </p15:clr>
        </p15:guide>
        <p15:guide id="3" orient="horz" pos="3533">
          <p15:clr>
            <a:srgbClr val="A4A3A4"/>
          </p15:clr>
        </p15:guide>
        <p15:guide id="4" orient="horz" pos="6246">
          <p15:clr>
            <a:srgbClr val="A4A3A4"/>
          </p15:clr>
        </p15:guide>
        <p15:guide id="5" pos="720">
          <p15:clr>
            <a:srgbClr val="A4A3A4"/>
          </p15:clr>
        </p15:guide>
        <p15:guide id="6" pos="6912">
          <p15:clr>
            <a:srgbClr val="A4A3A4"/>
          </p15:clr>
        </p15:guide>
        <p15:guide id="7" pos="7392">
          <p15:clr>
            <a:srgbClr val="A4A3A4"/>
          </p15:clr>
        </p15:guide>
        <p15:guide id="8" pos="13584">
          <p15:clr>
            <a:srgbClr val="A4A3A4"/>
          </p15:clr>
        </p15:guide>
        <p15:guide id="9" pos="14064">
          <p15:clr>
            <a:srgbClr val="A4A3A4"/>
          </p15:clr>
        </p15:guide>
        <p15:guide id="10" pos="20256">
          <p15:clr>
            <a:srgbClr val="A4A3A4"/>
          </p15:clr>
        </p15:guide>
        <p15:guide id="11" pos="20736">
          <p15:clr>
            <a:srgbClr val="A4A3A4"/>
          </p15:clr>
        </p15:guide>
        <p15:guide id="12" pos="26928">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82A5"/>
    <a:srgbClr val="DCE1C8"/>
    <a:srgbClr val="235078"/>
    <a:srgbClr val="EAEAEA"/>
    <a:srgbClr val="EEEEEE"/>
    <a:srgbClr val="006699"/>
    <a:srgbClr val="CC3300"/>
    <a:srgbClr val="006600"/>
    <a:srgbClr val="336699"/>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5256" autoAdjust="0"/>
  </p:normalViewPr>
  <p:slideViewPr>
    <p:cSldViewPr>
      <p:cViewPr>
        <p:scale>
          <a:sx n="10" d="100"/>
          <a:sy n="10" d="100"/>
        </p:scale>
        <p:origin x="509" y="797"/>
      </p:cViewPr>
      <p:guideLst>
        <p:guide orient="horz" pos="19968"/>
        <p:guide orient="horz" pos="5632"/>
        <p:guide orient="horz" pos="3533"/>
        <p:guide orient="horz" pos="6246"/>
        <p:guide pos="720"/>
        <p:guide pos="6912"/>
        <p:guide pos="7392"/>
        <p:guide pos="13584"/>
        <p:guide pos="14064"/>
        <p:guide pos="20256"/>
        <p:guide pos="20736"/>
        <p:guide pos="26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presProps" Target="presProps.xml"/><Relationship Id="rId5" Type="http://schemas.openxmlformats.org/officeDocument/2006/relationships/font" Target="fonts/font1.fntdata"/><Relationship Id="rId10"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smtId="4294967295"/>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smtId="4294967295"/>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smtId="4294967295"/>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smtId="4294967295"/>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smtId="4294967295"/>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smtId="4294967295"/>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3378200" y="3757613"/>
            <a:ext cx="249967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smtId="4294967295"/>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smtId="4294967295"/>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smtId="4294967295"/>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smtId="4294967295"/>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p:sp>
      <p:sp>
        <p:nvSpPr>
          <p:cNvPr id="4100" name="Rectangle 3"/>
          <p:cNvSpPr>
            <a:spLocks noGrp="1" noChangeArrowheads="1"/>
          </p:cNvSpPr>
          <p:nvPr>
            <p:ph type="body" idx="1"/>
          </p:nvPr>
        </p:nvSpPr>
        <p:spPr>
          <a:noFill/>
        </p:spPr>
        <p:txBody>
          <a:bodyPr/>
          <a:lstStyle>
            <a:defPPr>
              <a:defRPr kern="1200" smtId="4294967295"/>
            </a:defPPr>
          </a:lstStyle>
          <a:p>
            <a:endParaRPr lang="en-US"/>
          </a:p>
        </p:txBody>
      </p:sp>
    </p:spTree>
    <p:extLst>
      <p:ext uri="{BB962C8B-B14F-4D97-AF65-F5344CB8AC3E}">
        <p14:creationId xmlns:p14="http://schemas.microsoft.com/office/powerpoint/2010/main" val="2141757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3" y="10226675"/>
            <a:ext cx="37306957" cy="7054850"/>
          </a:xfrm>
        </p:spPr>
        <p:txBody>
          <a:bodyPr/>
          <a:lstStyle>
            <a:defPPr>
              <a:defRPr kern="1200" smtId="4294967295"/>
            </a:defPPr>
          </a:lstStyle>
          <a:p>
            <a:r>
              <a:rPr lang="en-US"/>
              <a:t>Click to edit Master title style</a:t>
            </a:r>
          </a:p>
        </p:txBody>
      </p:sp>
      <p:sp>
        <p:nvSpPr>
          <p:cNvPr id="3" name="Subtitle 2"/>
          <p:cNvSpPr>
            <a:spLocks noGrp="1"/>
          </p:cNvSpPr>
          <p:nvPr>
            <p:ph type="subTitle" idx="1"/>
          </p:nvPr>
        </p:nvSpPr>
        <p:spPr>
          <a:xfrm>
            <a:off x="6584245" y="18653125"/>
            <a:ext cx="30722711" cy="8413750"/>
          </a:xfrm>
        </p:spPr>
        <p:txBody>
          <a:bodyPr/>
          <a:lstStyle>
            <a:defPPr>
              <a:defRPr kern="1200" smtId="4294967295"/>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Content Placeholder 2"/>
          <p:cNvSpPr>
            <a:spLocks noGrp="1"/>
          </p:cNvSpPr>
          <p:nvPr>
            <p:ph idx="1"/>
          </p:nvPr>
        </p:nvSpPr>
        <p:spPr/>
        <p:txBody>
          <a:bodyPr/>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6957" cy="6537325"/>
          </a:xfrm>
        </p:spPr>
        <p:txBody>
          <a:bodyPr anchor="t"/>
          <a:lstStyle>
            <a:defPPr>
              <a:defRPr kern="1200" smtId="4294967295"/>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13952538"/>
            <a:ext cx="37306957" cy="7200900"/>
          </a:xfrm>
        </p:spPr>
        <p:txBody>
          <a:bodyPr anchor="b"/>
          <a:lstStyle>
            <a:defPPr>
              <a:defRPr kern="1200" smtId="4294967295"/>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Content Placeholder 2"/>
          <p:cNvSpPr>
            <a:spLocks noGrp="1"/>
          </p:cNvSpPr>
          <p:nvPr>
            <p:ph sz="half" idx="1"/>
          </p:nvPr>
        </p:nvSpPr>
        <p:spPr>
          <a:xfrm>
            <a:off x="3293534" y="9509126"/>
            <a:ext cx="18584332" cy="19751675"/>
          </a:xfrm>
        </p:spPr>
        <p:txBody>
          <a:bodyPr/>
          <a:lstStyle>
            <a:defPPr>
              <a:defRPr kern="1200" smtId="4294967295"/>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9509126"/>
            <a:ext cx="18584332" cy="19751675"/>
          </a:xfrm>
        </p:spPr>
        <p:txBody>
          <a:bodyPr/>
          <a:lstStyle>
            <a:defPPr>
              <a:defRPr kern="1200" smtId="4294967295"/>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p:spPr>
        <p:txBody>
          <a:bodyPr/>
          <a:lstStyle>
            <a:defPPr>
              <a:defRPr kern="1200" smtId="4294967295"/>
            </a:defPPr>
            <a:lvl1pPr>
              <a:defRPr/>
            </a:lvl1pPr>
          </a:lstStyle>
          <a:p>
            <a:r>
              <a:rPr lang="en-US"/>
              <a:t>Click to edit Master title style</a:t>
            </a:r>
          </a:p>
        </p:txBody>
      </p:sp>
      <p:sp>
        <p:nvSpPr>
          <p:cNvPr id="3" name="Text Placeholder 2"/>
          <p:cNvSpPr>
            <a:spLocks noGrp="1"/>
          </p:cNvSpPr>
          <p:nvPr>
            <p:ph type="body" idx="1"/>
          </p:nvPr>
        </p:nvSpPr>
        <p:spPr>
          <a:xfrm>
            <a:off x="2194278" y="7369176"/>
            <a:ext cx="19392900" cy="3070225"/>
          </a:xfrm>
        </p:spPr>
        <p:txBody>
          <a:bodyPr anchor="b"/>
          <a:lstStyle>
            <a:defPPr>
              <a:defRPr kern="1200" smtId="4294967295"/>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0439400"/>
            <a:ext cx="19392900" cy="18965862"/>
          </a:xfrm>
        </p:spPr>
        <p:txBody>
          <a:bodyPr/>
          <a:lstStyle>
            <a:defPPr>
              <a:defRPr kern="1200" smtId="4294967295"/>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7369176"/>
            <a:ext cx="19401368" cy="3070225"/>
          </a:xfrm>
        </p:spPr>
        <p:txBody>
          <a:bodyPr anchor="b"/>
          <a:lstStyle>
            <a:defPPr>
              <a:defRPr kern="1200" smtId="4294967295"/>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0439400"/>
            <a:ext cx="19401368" cy="18965862"/>
          </a:xfrm>
        </p:spPr>
        <p:txBody>
          <a:bodyPr/>
          <a:lstStyle>
            <a:defPPr>
              <a:defRPr kern="1200" smtId="4294967295"/>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smtId="4294967295"/>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smtId="4294967295"/>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smtId="4294967295"/>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1311275"/>
            <a:ext cx="14439900" cy="5576888"/>
          </a:xfrm>
        </p:spPr>
        <p:txBody>
          <a:bodyPr anchor="b"/>
          <a:lstStyle>
            <a:defPPr>
              <a:defRPr kern="1200" smtId="4294967295"/>
            </a:defPPr>
            <a:lvl1pPr algn="l">
              <a:defRPr sz="2000" b="1"/>
            </a:lvl1pPr>
          </a:lstStyle>
          <a:p>
            <a:r>
              <a:rPr lang="en-US"/>
              <a:t>Click to edit Master title style</a:t>
            </a:r>
          </a:p>
        </p:txBody>
      </p:sp>
      <p:sp>
        <p:nvSpPr>
          <p:cNvPr id="3" name="Content Placeholder 2"/>
          <p:cNvSpPr>
            <a:spLocks noGrp="1"/>
          </p:cNvSpPr>
          <p:nvPr>
            <p:ph idx="1"/>
          </p:nvPr>
        </p:nvSpPr>
        <p:spPr>
          <a:xfrm>
            <a:off x="17160523" y="1311275"/>
            <a:ext cx="24536400" cy="28093988"/>
          </a:xfrm>
        </p:spPr>
        <p:txBody>
          <a:bodyPr/>
          <a:lstStyle>
            <a:defPPr>
              <a:defRPr kern="1200" smtId="4294967295"/>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6888163"/>
            <a:ext cx="14439900" cy="22517100"/>
          </a:xfrm>
        </p:spPr>
        <p:txBody>
          <a:bodyPr/>
          <a:lstStyle>
            <a:defPPr>
              <a:defRPr kern="1200" smtId="4294967295"/>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5" y="23042564"/>
            <a:ext cx="26334157" cy="2720975"/>
          </a:xfrm>
        </p:spPr>
        <p:txBody>
          <a:bodyPr anchor="b"/>
          <a:lstStyle>
            <a:defPPr>
              <a:defRPr kern="1200" smtId="4294967295"/>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5" y="2941638"/>
            <a:ext cx="26334157" cy="19750088"/>
          </a:xfrm>
        </p:spPr>
        <p:txBody>
          <a:bodyPr/>
          <a:lstStyle>
            <a:defPPr>
              <a:defRPr kern="1200" smtId="4294967295"/>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3545" y="25763539"/>
            <a:ext cx="26334157" cy="3862387"/>
          </a:xfrm>
        </p:spPr>
        <p:txBody>
          <a:bodyPr/>
          <a:lstStyle>
            <a:defPPr>
              <a:defRPr kern="1200" smtId="4294967295"/>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smtId="4294967295"/>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smtId="4294967295"/>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635" y="2925763"/>
            <a:ext cx="9326033" cy="26335038"/>
          </a:xfrm>
        </p:spPr>
        <p:txBody>
          <a:bodyPr vert="eaVert"/>
          <a:lstStyle>
            <a:defPPr>
              <a:defRPr kern="1200" smtId="4294967295"/>
            </a:defPPr>
          </a:lstStyle>
          <a:p>
            <a:r>
              <a:rPr lang="en-US"/>
              <a:t>Click to edit Master title style</a:t>
            </a:r>
          </a:p>
        </p:txBody>
      </p:sp>
      <p:sp>
        <p:nvSpPr>
          <p:cNvPr id="3" name="Vertical Text Placeholder 2"/>
          <p:cNvSpPr>
            <a:spLocks noGrp="1"/>
          </p:cNvSpPr>
          <p:nvPr>
            <p:ph type="body" orient="vert" idx="1"/>
          </p:nvPr>
        </p:nvSpPr>
        <p:spPr>
          <a:xfrm>
            <a:off x="3293534" y="2925763"/>
            <a:ext cx="27842635" cy="26335038"/>
          </a:xfrm>
        </p:spPr>
        <p:txBody>
          <a:bodyPr vert="eaVert"/>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smtId="4294967295"/>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smtId="4294967295"/>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smtId="4294967295"/>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4063" y="2925763"/>
            <a:ext cx="37303075"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smtId="4294967295"/>
            </a:defPPr>
          </a:lstStyle>
          <a:p>
            <a:pPr lvl="0"/>
            <a:r>
              <a:rPr lang="en-US"/>
              <a:t>Click to edit Master title style</a:t>
            </a:r>
          </a:p>
        </p:txBody>
      </p:sp>
      <p:sp>
        <p:nvSpPr>
          <p:cNvPr id="1027" name="Rectangle 3"/>
          <p:cNvSpPr>
            <a:spLocks noGrp="1" noChangeArrowheads="1"/>
          </p:cNvSpPr>
          <p:nvPr>
            <p:ph type="body" idx="1"/>
          </p:nvPr>
        </p:nvSpPr>
        <p:spPr bwMode="auto">
          <a:xfrm>
            <a:off x="3294063" y="9509125"/>
            <a:ext cx="37303075" cy="1975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smtId="4294967295"/>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4063" y="29992638"/>
            <a:ext cx="9144000"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smtId="4294967295"/>
            </a:defPPr>
            <a:lvl1pPr defTabSz="4267200">
              <a:defRPr sz="6500"/>
            </a:lvl1pPr>
          </a:lstStyle>
          <a:p>
            <a:pPr>
              <a:defRPr/>
            </a:pPr>
            <a:endParaRPr lang="en-US"/>
          </a:p>
        </p:txBody>
      </p:sp>
      <p:sp>
        <p:nvSpPr>
          <p:cNvPr id="1029" name="Rectangle 5"/>
          <p:cNvSpPr>
            <a:spLocks noGrp="1" noChangeArrowheads="1"/>
          </p:cNvSpPr>
          <p:nvPr>
            <p:ph type="ftr" sz="quarter" idx="3"/>
          </p:nvPr>
        </p:nvSpPr>
        <p:spPr bwMode="auto">
          <a:xfrm>
            <a:off x="14993938" y="29992638"/>
            <a:ext cx="13903325"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smtId="4294967295"/>
            </a:defPPr>
            <a:lvl1pPr algn="ctr" defTabSz="4267200">
              <a:defRPr sz="6500"/>
            </a:lvl1pPr>
          </a:lstStyle>
          <a:p>
            <a:pPr>
              <a:defRPr/>
            </a:pPr>
            <a:endParaRPr lang="en-US"/>
          </a:p>
        </p:txBody>
      </p:sp>
      <p:sp>
        <p:nvSpPr>
          <p:cNvPr id="1030" name="Rectangle 6"/>
          <p:cNvSpPr>
            <a:spLocks noGrp="1" noChangeArrowheads="1"/>
          </p:cNvSpPr>
          <p:nvPr>
            <p:ph type="sldNum" sz="quarter" idx="4"/>
          </p:nvPr>
        </p:nvSpPr>
        <p:spPr bwMode="auto">
          <a:xfrm>
            <a:off x="31453138" y="29992638"/>
            <a:ext cx="9144000"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smtId="4294967295"/>
            </a:defPPr>
            <a:lvl1pPr algn="r" defTabSz="4267200">
              <a:defRPr sz="6500"/>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1506200" y="16459200"/>
            <a:ext cx="14274800" cy="4368800"/>
          </a:xfrm>
          <a:prstGeom prst="rect">
            <a:avLst/>
          </a:prstGeom>
        </p:spPr>
      </p:pic>
      <p:pic>
        <p:nvPicPr>
          <p:cNvPr id="1032" name="New picture"/>
          <p:cNvPicPr/>
          <p:nvPr/>
        </p:nvPicPr>
        <p:blipFill>
          <a:blip r:embed="rId13"/>
          <a:stretch>
            <a:fillRect/>
          </a:stretch>
        </p:blipFill>
        <p:spPr>
          <a:xfrm rot="5400000">
            <a:off x="41122600" y="16459200"/>
            <a:ext cx="14274800" cy="4368800"/>
          </a:xfrm>
          <a:prstGeom prst="rect">
            <a:avLst/>
          </a:prstGeom>
        </p:spPr>
      </p:pic>
      <p:pic>
        <p:nvPicPr>
          <p:cNvPr id="1033" name="New picture"/>
          <p:cNvPicPr/>
          <p:nvPr/>
        </p:nvPicPr>
        <p:blipFill>
          <a:blip r:embed="rId14"/>
          <a:stretch>
            <a:fillRect/>
          </a:stretch>
        </p:blipFill>
        <p:spPr>
          <a:xfrm>
            <a:off x="6959600" y="33426400"/>
            <a:ext cx="29972000" cy="1549400"/>
          </a:xfrm>
          <a:prstGeom prst="rect">
            <a:avLst/>
          </a:prstGeom>
        </p:spPr>
      </p:pic>
      <p:sp>
        <p:nvSpPr>
          <p:cNvPr id="1034" name="New shape"/>
          <p:cNvSpPr/>
          <p:nvPr/>
        </p:nvSpPr>
        <p:spPr>
          <a:xfrm>
            <a:off x="69596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880">
                <a:solidFill>
                  <a:srgbClr val="808080"/>
                </a:solidFill>
              </a:rPr>
              <a:t>Template ID: persuadingsapphire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smtId="4294967295"/>
      </a:defPPr>
      <a:lvl1pPr algn="ctr" defTabSz="4267200" rtl="0" eaLnBrk="0" fontAlgn="base" hangingPunct="0">
        <a:spcBef>
          <a:spcPct val="0"/>
        </a:spcBef>
        <a:spcAft>
          <a:spcPct val="0"/>
        </a:spcAft>
        <a:defRPr sz="20500">
          <a:solidFill>
            <a:schemeClr val="tx2"/>
          </a:solidFill>
          <a:latin typeface="+mj-lt"/>
          <a:ea typeface="+mj-ea"/>
          <a:cs typeface="+mj-cs"/>
        </a:defRPr>
      </a:lvl1pPr>
      <a:lvl2pPr algn="ctr" defTabSz="4267200" rtl="0" eaLnBrk="0" fontAlgn="base" hangingPunct="0">
        <a:spcBef>
          <a:spcPct val="0"/>
        </a:spcBef>
        <a:spcAft>
          <a:spcPct val="0"/>
        </a:spcAft>
        <a:defRPr sz="20500">
          <a:solidFill>
            <a:schemeClr val="tx2"/>
          </a:solidFill>
          <a:latin typeface="Times New Roman" pitchFamily="18" charset="0"/>
        </a:defRPr>
      </a:lvl2pPr>
      <a:lvl3pPr algn="ctr" defTabSz="4267200" rtl="0" eaLnBrk="0" fontAlgn="base" hangingPunct="0">
        <a:spcBef>
          <a:spcPct val="0"/>
        </a:spcBef>
        <a:spcAft>
          <a:spcPct val="0"/>
        </a:spcAft>
        <a:defRPr sz="20500">
          <a:solidFill>
            <a:schemeClr val="tx2"/>
          </a:solidFill>
          <a:latin typeface="Times New Roman" pitchFamily="18" charset="0"/>
        </a:defRPr>
      </a:lvl3pPr>
      <a:lvl4pPr algn="ctr" defTabSz="4267200" rtl="0" eaLnBrk="0" fontAlgn="base" hangingPunct="0">
        <a:spcBef>
          <a:spcPct val="0"/>
        </a:spcBef>
        <a:spcAft>
          <a:spcPct val="0"/>
        </a:spcAft>
        <a:defRPr sz="20500">
          <a:solidFill>
            <a:schemeClr val="tx2"/>
          </a:solidFill>
          <a:latin typeface="Times New Roman" pitchFamily="18" charset="0"/>
        </a:defRPr>
      </a:lvl4pPr>
      <a:lvl5pPr algn="ctr" defTabSz="4267200" rtl="0" eaLnBrk="0" fontAlgn="base" hangingPunct="0">
        <a:spcBef>
          <a:spcPct val="0"/>
        </a:spcBef>
        <a:spcAft>
          <a:spcPct val="0"/>
        </a:spcAft>
        <a:defRPr sz="20500">
          <a:solidFill>
            <a:schemeClr val="tx2"/>
          </a:solidFill>
          <a:latin typeface="Times New Roman" pitchFamily="18" charset="0"/>
        </a:defRPr>
      </a:lvl5pPr>
      <a:lvl6pPr marL="457200" algn="ctr" defTabSz="4267200" rtl="0" eaLnBrk="0" fontAlgn="base" hangingPunct="0">
        <a:spcBef>
          <a:spcPct val="0"/>
        </a:spcBef>
        <a:spcAft>
          <a:spcPct val="0"/>
        </a:spcAft>
        <a:defRPr sz="20500">
          <a:solidFill>
            <a:schemeClr val="tx2"/>
          </a:solidFill>
          <a:latin typeface="Times New Roman" pitchFamily="18" charset="0"/>
        </a:defRPr>
      </a:lvl6pPr>
      <a:lvl7pPr marL="914400" algn="ctr" defTabSz="4267200" rtl="0" eaLnBrk="0" fontAlgn="base" hangingPunct="0">
        <a:spcBef>
          <a:spcPct val="0"/>
        </a:spcBef>
        <a:spcAft>
          <a:spcPct val="0"/>
        </a:spcAft>
        <a:defRPr sz="20500">
          <a:solidFill>
            <a:schemeClr val="tx2"/>
          </a:solidFill>
          <a:latin typeface="Times New Roman" pitchFamily="18" charset="0"/>
        </a:defRPr>
      </a:lvl7pPr>
      <a:lvl8pPr marL="1371600" algn="ctr" defTabSz="4267200" rtl="0" eaLnBrk="0" fontAlgn="base" hangingPunct="0">
        <a:spcBef>
          <a:spcPct val="0"/>
        </a:spcBef>
        <a:spcAft>
          <a:spcPct val="0"/>
        </a:spcAft>
        <a:defRPr sz="20500">
          <a:solidFill>
            <a:schemeClr val="tx2"/>
          </a:solidFill>
          <a:latin typeface="Times New Roman" pitchFamily="18" charset="0"/>
        </a:defRPr>
      </a:lvl8pPr>
      <a:lvl9pPr marL="1828800" algn="ctr" defTabSz="4267200" rtl="0" eaLnBrk="0" fontAlgn="base" hangingPunct="0">
        <a:spcBef>
          <a:spcPct val="0"/>
        </a:spcBef>
        <a:spcAft>
          <a:spcPct val="0"/>
        </a:spcAft>
        <a:defRPr sz="20500">
          <a:solidFill>
            <a:schemeClr val="tx2"/>
          </a:solidFill>
          <a:latin typeface="Times New Roman" pitchFamily="18" charset="0"/>
        </a:defRPr>
      </a:lvl9pPr>
    </p:titleStyle>
    <p:bodyStyle>
      <a:defPPr>
        <a:defRPr kern="1200" smtId="4294967295"/>
      </a:defPPr>
      <a:lvl1pPr marL="1600200" indent="-1600200" algn="l" defTabSz="4267200" rtl="0" eaLnBrk="0" fontAlgn="base" hangingPunct="0">
        <a:spcBef>
          <a:spcPct val="20000"/>
        </a:spcBef>
        <a:spcAft>
          <a:spcPct val="0"/>
        </a:spcAft>
        <a:buChar char="•"/>
        <a:defRPr sz="14900">
          <a:solidFill>
            <a:schemeClr val="tx1"/>
          </a:solidFill>
          <a:latin typeface="+mn-lt"/>
          <a:ea typeface="+mn-ea"/>
          <a:cs typeface="+mn-cs"/>
        </a:defRPr>
      </a:lvl1pPr>
      <a:lvl2pPr marL="3467100" indent="-1333500" algn="l" defTabSz="4267200" rtl="0" eaLnBrk="0" fontAlgn="base" hangingPunct="0">
        <a:spcBef>
          <a:spcPct val="20000"/>
        </a:spcBef>
        <a:spcAft>
          <a:spcPct val="0"/>
        </a:spcAft>
        <a:buChar char="–"/>
        <a:defRPr sz="13100">
          <a:solidFill>
            <a:schemeClr val="tx1"/>
          </a:solidFill>
          <a:latin typeface="+mn-lt"/>
        </a:defRPr>
      </a:lvl2pPr>
      <a:lvl3pPr marL="5334000" indent="-1066800" algn="l" defTabSz="4267200" rtl="0" eaLnBrk="0" fontAlgn="base" hangingPunct="0">
        <a:spcBef>
          <a:spcPct val="20000"/>
        </a:spcBef>
        <a:spcAft>
          <a:spcPct val="0"/>
        </a:spcAft>
        <a:buChar char="•"/>
        <a:defRPr sz="11200">
          <a:solidFill>
            <a:schemeClr val="tx1"/>
          </a:solidFill>
          <a:latin typeface="+mn-lt"/>
        </a:defRPr>
      </a:lvl3pPr>
      <a:lvl4pPr marL="7467600" indent="-1066800" algn="l" defTabSz="4267200" rtl="0" eaLnBrk="0" fontAlgn="base" hangingPunct="0">
        <a:spcBef>
          <a:spcPct val="20000"/>
        </a:spcBef>
        <a:spcAft>
          <a:spcPct val="0"/>
        </a:spcAft>
        <a:buChar char="–"/>
        <a:defRPr sz="9300">
          <a:solidFill>
            <a:schemeClr val="tx1"/>
          </a:solidFill>
          <a:latin typeface="+mn-lt"/>
        </a:defRPr>
      </a:lvl4pPr>
      <a:lvl5pPr marL="9601200" indent="-1066800" algn="l" defTabSz="4267200" rtl="0" eaLnBrk="0" fontAlgn="base" hangingPunct="0">
        <a:spcBef>
          <a:spcPct val="20000"/>
        </a:spcBef>
        <a:spcAft>
          <a:spcPct val="0"/>
        </a:spcAft>
        <a:buChar char="»"/>
        <a:defRPr sz="9300">
          <a:solidFill>
            <a:schemeClr val="tx1"/>
          </a:solidFill>
          <a:latin typeface="+mn-lt"/>
        </a:defRPr>
      </a:lvl5pPr>
      <a:lvl6pPr marL="10058400" indent="-1066800" algn="l" defTabSz="4267200" rtl="0" eaLnBrk="0" fontAlgn="base" hangingPunct="0">
        <a:spcBef>
          <a:spcPct val="20000"/>
        </a:spcBef>
        <a:spcAft>
          <a:spcPct val="0"/>
        </a:spcAft>
        <a:buChar char="»"/>
        <a:defRPr sz="9300">
          <a:solidFill>
            <a:schemeClr val="tx1"/>
          </a:solidFill>
          <a:latin typeface="+mn-lt"/>
        </a:defRPr>
      </a:lvl6pPr>
      <a:lvl7pPr marL="10515600" indent="-1066800" algn="l" defTabSz="4267200" rtl="0" eaLnBrk="0" fontAlgn="base" hangingPunct="0">
        <a:spcBef>
          <a:spcPct val="20000"/>
        </a:spcBef>
        <a:spcAft>
          <a:spcPct val="0"/>
        </a:spcAft>
        <a:buChar char="»"/>
        <a:defRPr sz="9300">
          <a:solidFill>
            <a:schemeClr val="tx1"/>
          </a:solidFill>
          <a:latin typeface="+mn-lt"/>
        </a:defRPr>
      </a:lvl7pPr>
      <a:lvl8pPr marL="10972800" indent="-1066800" algn="l" defTabSz="4267200" rtl="0" eaLnBrk="0" fontAlgn="base" hangingPunct="0">
        <a:spcBef>
          <a:spcPct val="20000"/>
        </a:spcBef>
        <a:spcAft>
          <a:spcPct val="0"/>
        </a:spcAft>
        <a:buChar char="»"/>
        <a:defRPr sz="9300">
          <a:solidFill>
            <a:schemeClr val="tx1"/>
          </a:solidFill>
          <a:latin typeface="+mn-lt"/>
        </a:defRPr>
      </a:lvl8pPr>
      <a:lvl9pPr marL="11430000" indent="-1066800" algn="l" defTabSz="4267200" rtl="0" eaLnBrk="0" fontAlgn="base" hangingPunct="0">
        <a:spcBef>
          <a:spcPct val="20000"/>
        </a:spcBef>
        <a:spcAft>
          <a:spcPct val="0"/>
        </a:spcAft>
        <a:buChar char="»"/>
        <a:defRPr sz="9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r18cs026@cit.reva.edu.in" TargetMode="External"/><Relationship Id="rId13" Type="http://schemas.openxmlformats.org/officeDocument/2006/relationships/image" Target="../media/image7.png"/><Relationship Id="rId18" Type="http://schemas.openxmlformats.org/officeDocument/2006/relationships/image" Target="../media/image12.jpeg"/><Relationship Id="rId3" Type="http://schemas.openxmlformats.org/officeDocument/2006/relationships/hyperlink" Target="mailto:aishwaryagm1999@gmail.com" TargetMode="External"/><Relationship Id="rId21" Type="http://schemas.openxmlformats.org/officeDocument/2006/relationships/image" Target="../media/image15.jpeg"/><Relationship Id="rId7" Type="http://schemas.openxmlformats.org/officeDocument/2006/relationships/image" Target="../media/image3.png"/><Relationship Id="rId12" Type="http://schemas.openxmlformats.org/officeDocument/2006/relationships/image" Target="../media/image6.png"/><Relationship Id="rId17" Type="http://schemas.openxmlformats.org/officeDocument/2006/relationships/image" Target="../media/image11.jpeg"/><Relationship Id="rId25" Type="http://schemas.openxmlformats.org/officeDocument/2006/relationships/image" Target="../media/image19.jpeg"/><Relationship Id="rId2" Type="http://schemas.openxmlformats.org/officeDocument/2006/relationships/notesSlide" Target="../notesSlides/notesSlide1.xml"/><Relationship Id="rId16" Type="http://schemas.openxmlformats.org/officeDocument/2006/relationships/image" Target="../media/image10.jpeg"/><Relationship Id="rId20"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hyperlink" Target="mailto:anushasn24@gmail.com" TargetMode="External"/><Relationship Id="rId11" Type="http://schemas.openxmlformats.org/officeDocument/2006/relationships/image" Target="../media/image5.png"/><Relationship Id="rId24" Type="http://schemas.openxmlformats.org/officeDocument/2006/relationships/image" Target="../media/image18.jpeg"/><Relationship Id="rId5" Type="http://schemas.openxmlformats.org/officeDocument/2006/relationships/hyperlink" Target="mailto:arbaazahmed0607@gmail.com" TargetMode="External"/><Relationship Id="rId15" Type="http://schemas.openxmlformats.org/officeDocument/2006/relationships/image" Target="../media/image9.jpeg"/><Relationship Id="rId23" Type="http://schemas.openxmlformats.org/officeDocument/2006/relationships/image" Target="../media/image17.jpeg"/><Relationship Id="rId10" Type="http://schemas.openxmlformats.org/officeDocument/2006/relationships/image" Target="../media/image4.png"/><Relationship Id="rId19" Type="http://schemas.openxmlformats.org/officeDocument/2006/relationships/image" Target="../media/image13.jpeg"/><Relationship Id="rId4" Type="http://schemas.openxmlformats.org/officeDocument/2006/relationships/hyperlink" Target="mailto:gnaneswarreddy666@gmail.com" TargetMode="External"/><Relationship Id="rId9" Type="http://schemas.openxmlformats.org/officeDocument/2006/relationships/hyperlink" Target="mailto:r22ei058@reva.edu.in" TargetMode="External"/><Relationship Id="rId14" Type="http://schemas.openxmlformats.org/officeDocument/2006/relationships/image" Target="../media/image8.png"/><Relationship Id="rId22"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5791200" y="533611"/>
            <a:ext cx="32537400" cy="3614915"/>
          </a:xfrm>
          <a:prstGeom prst="rect">
            <a:avLst/>
          </a:prstGeom>
        </p:spPr>
        <p:txBody>
          <a:bodyPr lIns="128016" tIns="64008" rIns="128016" bIns="64008"/>
          <a:lstStyle>
            <a:defPPr>
              <a:defRPr kern="1200" smtId="4294967295"/>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7200" dirty="0">
                <a:solidFill>
                  <a:srgbClr val="235078"/>
                </a:solidFill>
                <a:latin typeface="Libre Baskerville" panose="02000000000000000000" pitchFamily="2" charset="0"/>
              </a:rPr>
              <a:t>SCHOOL OF COMPUTER SCIENCE AND ENGINEERING (G3)</a:t>
            </a:r>
          </a:p>
          <a:p>
            <a:r>
              <a:rPr lang="en-US" sz="7200" dirty="0">
                <a:solidFill>
                  <a:srgbClr val="235078"/>
                </a:solidFill>
                <a:latin typeface="Libre Baskerville" panose="02000000000000000000" pitchFamily="2" charset="0"/>
              </a:rPr>
              <a:t>PROJECT EXPO - 2026</a:t>
            </a:r>
          </a:p>
          <a:p>
            <a:r>
              <a:rPr lang="en-US" sz="6000" dirty="0">
                <a:solidFill>
                  <a:srgbClr val="235078"/>
                </a:solidFill>
                <a:latin typeface="Libre Baskerville" panose="02000000000000000000" pitchFamily="2" charset="0"/>
              </a:rPr>
              <a:t>RASFLIPPER-PORTABLE MULTI-PROTOCOL PENTESTING TOOLKIT</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2878250" y="4148526"/>
            <a:ext cx="39204900" cy="6752618"/>
          </a:xfrm>
          <a:prstGeom prst="rect">
            <a:avLst/>
          </a:prstGeom>
        </p:spPr>
        <p:txBody>
          <a:bodyPr wrap="square" lIns="128016" tIns="64008" rIns="128016" bIns="64008">
            <a:spAutoFit/>
          </a:bodyPr>
          <a:lstStyle>
            <a:defPPr>
              <a:defRPr kern="1200" smtId="4294967295"/>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r>
              <a:rPr lang="en-US" sz="5600" dirty="0">
                <a:solidFill>
                  <a:srgbClr val="1482A5"/>
                </a:solidFill>
                <a:latin typeface="Montserrat Light" panose="00000400000000000000" pitchFamily="50" charset="0"/>
              </a:rPr>
              <a:t>  </a:t>
            </a:r>
            <a:r>
              <a:rPr lang="en-US" sz="3600" dirty="0">
                <a:solidFill>
                  <a:srgbClr val="1482A5"/>
                </a:solidFill>
                <a:latin typeface="Montserrat Light" panose="00000400000000000000" pitchFamily="50" charset="0"/>
              </a:rPr>
              <a:t>M. MOURYA KOUSHIK REDDY</a:t>
            </a:r>
            <a:r>
              <a:rPr lang="en-US" sz="5600" dirty="0">
                <a:solidFill>
                  <a:srgbClr val="1482A5"/>
                </a:solidFill>
                <a:latin typeface="Montserrat Light" panose="00000400000000000000" pitchFamily="50" charset="0"/>
              </a:rPr>
              <a:t>	              </a:t>
            </a:r>
            <a:r>
              <a:rPr lang="en-US" sz="3600" dirty="0">
                <a:solidFill>
                  <a:srgbClr val="1482A5"/>
                </a:solidFill>
                <a:latin typeface="Montserrat Light" panose="00000400000000000000" pitchFamily="50" charset="0"/>
              </a:rPr>
              <a:t>C. GNANESWAR REDDY</a:t>
            </a:r>
            <a:r>
              <a:rPr lang="en-US" sz="5600" dirty="0">
                <a:solidFill>
                  <a:srgbClr val="1482A5"/>
                </a:solidFill>
                <a:latin typeface="Montserrat Light" panose="00000400000000000000" pitchFamily="50" charset="0"/>
              </a:rPr>
              <a:t> 		      </a:t>
            </a:r>
            <a:r>
              <a:rPr lang="en-US" sz="3600" dirty="0">
                <a:solidFill>
                  <a:srgbClr val="1482A5"/>
                </a:solidFill>
                <a:latin typeface="Montserrat Light" panose="00000400000000000000" pitchFamily="50" charset="0"/>
              </a:rPr>
              <a:t>B. GAJAN VAROOD</a:t>
            </a:r>
            <a:r>
              <a:rPr lang="en-US" sz="5600" dirty="0">
                <a:solidFill>
                  <a:srgbClr val="1482A5"/>
                </a:solidFill>
                <a:latin typeface="Montserrat Light" panose="00000400000000000000" pitchFamily="50" charset="0"/>
              </a:rPr>
              <a:t>                          </a:t>
            </a:r>
            <a:r>
              <a:rPr lang="en-US" sz="3600" dirty="0">
                <a:solidFill>
                  <a:srgbClr val="1482A5"/>
                </a:solidFill>
                <a:latin typeface="Montserrat Light" panose="00000400000000000000" pitchFamily="50" charset="0"/>
              </a:rPr>
              <a:t>V. DEEKSHITH</a:t>
            </a:r>
            <a:endParaRPr lang="en-US" sz="5600" dirty="0">
              <a:solidFill>
                <a:srgbClr val="1482A5"/>
              </a:solidFill>
              <a:latin typeface="Montserrat Light" panose="00000400000000000000" pitchFamily="50" charset="0"/>
            </a:endParaRPr>
          </a:p>
          <a:p>
            <a:endParaRPr lang="en-US" sz="4400" dirty="0">
              <a:solidFill>
                <a:srgbClr val="1482A5"/>
              </a:solidFill>
              <a:latin typeface="Montserrat Light" panose="00000400000000000000" pitchFamily="50" charset="0"/>
              <a:hlinkClick r:id="rId3"/>
            </a:endParaRPr>
          </a:p>
          <a:p>
            <a:r>
              <a:rPr lang="en-US" sz="4400" dirty="0">
                <a:solidFill>
                  <a:srgbClr val="1482A5"/>
                </a:solidFill>
                <a:latin typeface="Montserrat Light" panose="00000400000000000000" pitchFamily="50" charset="0"/>
                <a:hlinkClick r:id="rId3"/>
              </a:rPr>
              <a:t>mouryareddy113@gmail.com</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4"/>
              </a:rPr>
              <a:t>gnaneswarreddy666@gmail.com</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5"/>
              </a:rPr>
              <a:t>varoodgajan@gmail.com</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6"/>
              </a:rPr>
              <a:t>djdeekshithv14@gmail.com</a:t>
            </a:r>
            <a:endParaRPr lang="en-US" sz="4400" dirty="0">
              <a:solidFill>
                <a:srgbClr val="1482A5"/>
              </a:solidFill>
              <a:latin typeface="Montserrat Light" panose="00000400000000000000" pitchFamily="50" charset="0"/>
            </a:endParaRPr>
          </a:p>
          <a:p>
            <a:pPr algn="ctr"/>
            <a:r>
              <a:rPr lang="en-US" sz="5600" dirty="0">
                <a:solidFill>
                  <a:srgbClr val="1482A5"/>
                </a:solidFill>
                <a:latin typeface="Montserrat Light" panose="00000400000000000000" pitchFamily="50" charset="0"/>
              </a:rPr>
              <a:t>GUIDE Name: Dr P.V. Bhaskar Reddy			</a:t>
            </a:r>
          </a:p>
          <a:p>
            <a:endParaRPr lang="en-US" sz="5600" dirty="0">
              <a:solidFill>
                <a:srgbClr val="1482A5"/>
              </a:solidFill>
              <a:latin typeface="Montserrat Light" panose="00000400000000000000" pitchFamily="50" charset="0"/>
            </a:endParaRPr>
          </a:p>
          <a:p>
            <a:endParaRPr lang="en-US" sz="5600" dirty="0">
              <a:solidFill>
                <a:srgbClr val="1482A5"/>
              </a:solidFill>
              <a:latin typeface="Montserrat Light" panose="00000400000000000000" pitchFamily="50" charset="0"/>
            </a:endParaRPr>
          </a:p>
          <a:p>
            <a:endParaRPr lang="en-US" sz="5600" dirty="0">
              <a:solidFill>
                <a:srgbClr val="1482A5"/>
              </a:solidFill>
              <a:latin typeface="Montserrat Light" panose="00000400000000000000" pitchFamily="50" charset="0"/>
            </a:endParaRPr>
          </a:p>
        </p:txBody>
      </p:sp>
      <p:sp>
        <p:nvSpPr>
          <p:cNvPr id="46" name="Rectangle 45">
            <a:extLst>
              <a:ext uri="{FF2B5EF4-FFF2-40B4-BE49-F238E27FC236}">
                <a16:creationId xmlns:a16="http://schemas.microsoft.com/office/drawing/2014/main" id="{2C718E78-BDD8-4BAD-851F-D423AE935B0D}"/>
              </a:ext>
            </a:extLst>
          </p:cNvPr>
          <p:cNvSpPr/>
          <p:nvPr/>
        </p:nvSpPr>
        <p:spPr>
          <a:xfrm>
            <a:off x="685799" y="7745165"/>
            <a:ext cx="10292785" cy="7825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endParaRPr lang="en-US" sz="9600">
              <a:latin typeface="+mj-lt"/>
            </a:endParaRPr>
          </a:p>
        </p:txBody>
      </p:sp>
      <p:sp>
        <p:nvSpPr>
          <p:cNvPr id="47" name="Rectangle 46">
            <a:extLst>
              <a:ext uri="{FF2B5EF4-FFF2-40B4-BE49-F238E27FC236}">
                <a16:creationId xmlns:a16="http://schemas.microsoft.com/office/drawing/2014/main" id="{B9C39BF6-8B9A-45D3-A730-4CDDF5EAA7F1}"/>
              </a:ext>
            </a:extLst>
          </p:cNvPr>
          <p:cNvSpPr/>
          <p:nvPr/>
        </p:nvSpPr>
        <p:spPr>
          <a:xfrm>
            <a:off x="22326600" y="7745167"/>
            <a:ext cx="10299926" cy="24487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r>
              <a:rPr lang="en-US" sz="9600" dirty="0"/>
              <a:t>d &amp; Amin, M.(2015). Design and Construction of a Multipurpose Robot.     International Journal of Automation, Control and Intelligent Systems. 1. 34-46.</a:t>
            </a:r>
          </a:p>
          <a:p>
            <a:pPr algn="ctr"/>
            <a:endParaRPr lang="en-US" sz="9600" dirty="0"/>
          </a:p>
          <a:p>
            <a:pPr algn="ctr"/>
            <a:endParaRPr lang="en-US" sz="9600" dirty="0"/>
          </a:p>
        </p:txBody>
      </p:sp>
      <p:sp>
        <p:nvSpPr>
          <p:cNvPr id="48" name="Rectangle 47">
            <a:extLst>
              <a:ext uri="{FF2B5EF4-FFF2-40B4-BE49-F238E27FC236}">
                <a16:creationId xmlns:a16="http://schemas.microsoft.com/office/drawing/2014/main" id="{3E6D1C9C-2516-4738-BC80-673A19ECE5BD}"/>
              </a:ext>
            </a:extLst>
          </p:cNvPr>
          <p:cNvSpPr/>
          <p:nvPr/>
        </p:nvSpPr>
        <p:spPr>
          <a:xfrm>
            <a:off x="32984735" y="7745167"/>
            <a:ext cx="10068263" cy="12852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endParaRPr lang="en-US" sz="9600" dirty="0"/>
          </a:p>
        </p:txBody>
      </p:sp>
      <p:sp>
        <p:nvSpPr>
          <p:cNvPr id="49" name="Rectangle 48">
            <a:extLst>
              <a:ext uri="{FF2B5EF4-FFF2-40B4-BE49-F238E27FC236}">
                <a16:creationId xmlns:a16="http://schemas.microsoft.com/office/drawing/2014/main" id="{8F25EFAD-7AAF-4CAF-BA69-869B3D423F7F}"/>
              </a:ext>
            </a:extLst>
          </p:cNvPr>
          <p:cNvSpPr/>
          <p:nvPr/>
        </p:nvSpPr>
        <p:spPr>
          <a:xfrm>
            <a:off x="739547" y="16596026"/>
            <a:ext cx="10232467" cy="16093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endParaRPr lang="en-US" sz="9600"/>
          </a:p>
        </p:txBody>
      </p:sp>
      <p:sp>
        <p:nvSpPr>
          <p:cNvPr id="50" name="Rectangle 49">
            <a:extLst>
              <a:ext uri="{FF2B5EF4-FFF2-40B4-BE49-F238E27FC236}">
                <a16:creationId xmlns:a16="http://schemas.microsoft.com/office/drawing/2014/main" id="{2EC9A64B-144F-4668-B416-097C0312FF96}"/>
              </a:ext>
            </a:extLst>
          </p:cNvPr>
          <p:cNvSpPr/>
          <p:nvPr/>
        </p:nvSpPr>
        <p:spPr>
          <a:xfrm>
            <a:off x="11506200" y="21717185"/>
            <a:ext cx="10591800" cy="10515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endParaRPr lang="en-US" sz="9600"/>
          </a:p>
        </p:txBody>
      </p:sp>
      <p:sp>
        <p:nvSpPr>
          <p:cNvPr id="51" name="Rectangle 50">
            <a:extLst>
              <a:ext uri="{FF2B5EF4-FFF2-40B4-BE49-F238E27FC236}">
                <a16:creationId xmlns:a16="http://schemas.microsoft.com/office/drawing/2014/main" id="{BF801B80-E24E-4773-AC4E-37DC17B0424E}"/>
              </a:ext>
            </a:extLst>
          </p:cNvPr>
          <p:cNvSpPr/>
          <p:nvPr/>
        </p:nvSpPr>
        <p:spPr>
          <a:xfrm>
            <a:off x="11354140" y="7726956"/>
            <a:ext cx="10602686" cy="135909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endParaRPr lang="en-US" sz="2000" dirty="0"/>
          </a:p>
        </p:txBody>
      </p:sp>
      <p:sp>
        <p:nvSpPr>
          <p:cNvPr id="52" name="Rectangle 51">
            <a:extLst>
              <a:ext uri="{FF2B5EF4-FFF2-40B4-BE49-F238E27FC236}">
                <a16:creationId xmlns:a16="http://schemas.microsoft.com/office/drawing/2014/main" id="{F6D8A1CF-B987-4F36-8586-4BEDACCCAB04}"/>
              </a:ext>
            </a:extLst>
          </p:cNvPr>
          <p:cNvSpPr/>
          <p:nvPr/>
        </p:nvSpPr>
        <p:spPr>
          <a:xfrm>
            <a:off x="32946975" y="21002592"/>
            <a:ext cx="10058400" cy="11300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smtId="4294967295"/>
            </a:defPPr>
          </a:lstStyle>
          <a:p>
            <a:pPr algn="ctr"/>
            <a:r>
              <a:rPr lang="en-US" sz="1400" dirty="0"/>
              <a:t>[5] Zaman, M. &amp; Ahmed,</a:t>
            </a:r>
          </a:p>
        </p:txBody>
      </p:sp>
      <p:sp>
        <p:nvSpPr>
          <p:cNvPr id="54" name="TextBox 53">
            <a:extLst>
              <a:ext uri="{FF2B5EF4-FFF2-40B4-BE49-F238E27FC236}">
                <a16:creationId xmlns:a16="http://schemas.microsoft.com/office/drawing/2014/main" id="{E4864E4E-50A2-403F-84B8-E4F7E820612B}"/>
              </a:ext>
            </a:extLst>
          </p:cNvPr>
          <p:cNvSpPr txBox="1"/>
          <p:nvPr/>
        </p:nvSpPr>
        <p:spPr>
          <a:xfrm>
            <a:off x="914400" y="8077206"/>
            <a:ext cx="9601200" cy="646331"/>
          </a:xfrm>
          <a:prstGeom prst="rect">
            <a:avLst/>
          </a:prstGeom>
          <a:noFill/>
        </p:spPr>
        <p:txBody>
          <a:bodyPr wrap="square" rtlCol="0">
            <a:spAutoFit/>
          </a:bodyPr>
          <a:lstStyle>
            <a:defPPr>
              <a:defRPr kern="1200" smtId="4294967295"/>
            </a:defPPr>
          </a:lstStyle>
          <a:p>
            <a:r>
              <a:rPr lang="en-US" sz="3600" dirty="0">
                <a:solidFill>
                  <a:srgbClr val="235078"/>
                </a:solidFill>
                <a:latin typeface="+mn-lt"/>
              </a:rPr>
              <a:t>Abstract</a:t>
            </a:r>
          </a:p>
        </p:txBody>
      </p:sp>
      <p:sp>
        <p:nvSpPr>
          <p:cNvPr id="58" name="TextBox 57">
            <a:extLst>
              <a:ext uri="{FF2B5EF4-FFF2-40B4-BE49-F238E27FC236}">
                <a16:creationId xmlns:a16="http://schemas.microsoft.com/office/drawing/2014/main" id="{E3DA8D0E-1298-4193-913A-0FE766B77D13}"/>
              </a:ext>
            </a:extLst>
          </p:cNvPr>
          <p:cNvSpPr txBox="1"/>
          <p:nvPr/>
        </p:nvSpPr>
        <p:spPr>
          <a:xfrm>
            <a:off x="33375600" y="8745112"/>
            <a:ext cx="9601200" cy="461665"/>
          </a:xfrm>
          <a:prstGeom prst="rect">
            <a:avLst/>
          </a:prstGeom>
          <a:noFill/>
        </p:spPr>
        <p:txBody>
          <a:bodyPr wrap="square" rtlCol="0">
            <a:spAutoFit/>
          </a:bodyPr>
          <a:lstStyle>
            <a:defPPr>
              <a:defRPr kern="1200" smtId="4294967295"/>
            </a:defPPr>
          </a:lstStyle>
          <a:p>
            <a:r>
              <a:rPr lang="en-US" dirty="0">
                <a:solidFill>
                  <a:srgbClr val="1482A5"/>
                </a:solidFill>
                <a:latin typeface="Montserrat Light" panose="00000400000000000000" pitchFamily="50" charset="0"/>
                <a:ea typeface="Open Sans" panose="020B0606030504020204" pitchFamily="34" charset="0"/>
                <a:cs typeface="Open Sans" panose="020B0606030504020204" pitchFamily="34" charset="0"/>
              </a:rPr>
              <a:t>.</a:t>
            </a:r>
          </a:p>
        </p:txBody>
      </p:sp>
      <p:sp>
        <p:nvSpPr>
          <p:cNvPr id="59" name="TextBox 58">
            <a:extLst>
              <a:ext uri="{FF2B5EF4-FFF2-40B4-BE49-F238E27FC236}">
                <a16:creationId xmlns:a16="http://schemas.microsoft.com/office/drawing/2014/main" id="{D07EEF88-ACF9-4467-B180-074FC642245A}"/>
              </a:ext>
            </a:extLst>
          </p:cNvPr>
          <p:cNvSpPr txBox="1"/>
          <p:nvPr/>
        </p:nvSpPr>
        <p:spPr>
          <a:xfrm>
            <a:off x="33267423" y="8131314"/>
            <a:ext cx="9601200" cy="707886"/>
          </a:xfrm>
          <a:prstGeom prst="rect">
            <a:avLst/>
          </a:prstGeom>
          <a:noFill/>
        </p:spPr>
        <p:txBody>
          <a:bodyPr wrap="square" rtlCol="0">
            <a:spAutoFit/>
          </a:bodyPr>
          <a:lstStyle>
            <a:defPPr>
              <a:defRPr kern="1200" smtId="4294967295"/>
            </a:defPPr>
          </a:lstStyle>
          <a:p>
            <a:r>
              <a:rPr lang="en-US" sz="4000" dirty="0">
                <a:solidFill>
                  <a:srgbClr val="235078"/>
                </a:solidFill>
                <a:latin typeface="+mj-lt"/>
              </a:rPr>
              <a:t>Conclusion</a:t>
            </a:r>
          </a:p>
        </p:txBody>
      </p:sp>
      <p:sp>
        <p:nvSpPr>
          <p:cNvPr id="60" name="TextBox 59">
            <a:extLst>
              <a:ext uri="{FF2B5EF4-FFF2-40B4-BE49-F238E27FC236}">
                <a16:creationId xmlns:a16="http://schemas.microsoft.com/office/drawing/2014/main" id="{22B0201C-B275-4172-AE5F-42B6EA405F41}"/>
              </a:ext>
            </a:extLst>
          </p:cNvPr>
          <p:cNvSpPr txBox="1"/>
          <p:nvPr/>
        </p:nvSpPr>
        <p:spPr>
          <a:xfrm>
            <a:off x="33350425" y="22046447"/>
            <a:ext cx="9186524" cy="9264075"/>
          </a:xfrm>
          <a:prstGeom prst="rect">
            <a:avLst/>
          </a:prstGeom>
          <a:noFill/>
        </p:spPr>
        <p:txBody>
          <a:bodyPr wrap="square" rtlCol="0">
            <a:spAutoFit/>
          </a:bodyPr>
          <a:lstStyle>
            <a:defPPr>
              <a:defRPr kern="1200" smtId="4294967295"/>
            </a:defPPr>
          </a:lstStyle>
          <a:p>
            <a:pPr lvl="0">
              <a:spcBef>
                <a:spcPts val="100"/>
              </a:spcBef>
              <a:spcAft>
                <a:spcPts val="100"/>
              </a:spcAft>
            </a:pPr>
            <a:r>
              <a:rPr lang="en-US" dirty="0"/>
              <a:t>[1] S. Fluhrer, I. Mantin, and A. Shamir, “Weaknesses in the Key </a:t>
            </a:r>
          </a:p>
          <a:p>
            <a:pPr lvl="0">
              <a:spcBef>
                <a:spcPts val="100"/>
              </a:spcBef>
              <a:spcAft>
                <a:spcPts val="100"/>
              </a:spcAft>
            </a:pPr>
            <a:r>
              <a:rPr lang="en-US" dirty="0"/>
              <a:t>Scheduling Algorithm of RC4,” in </a:t>
            </a:r>
            <a:r>
              <a:rPr lang="en-US" i="1" dirty="0"/>
              <a:t>Proc. Selected Areas in Cryptography</a:t>
            </a:r>
            <a:r>
              <a:rPr lang="en-US" dirty="0"/>
              <a:t>, 2001.</a:t>
            </a:r>
            <a:endParaRPr lang="en-IN" dirty="0"/>
          </a:p>
          <a:p>
            <a:pPr lvl="0">
              <a:spcBef>
                <a:spcPts val="100"/>
              </a:spcBef>
              <a:spcAft>
                <a:spcPts val="100"/>
              </a:spcAft>
            </a:pPr>
            <a:r>
              <a:rPr lang="en-US" dirty="0"/>
              <a:t>[2] E. Tews, R. Weinmann, and A. Pyshkin, “Breaking 104-bit WEP in less than 60 seconds,” in </a:t>
            </a:r>
            <a:r>
              <a:rPr lang="en-US" i="1" dirty="0"/>
              <a:t>Proc. WISA</a:t>
            </a:r>
            <a:r>
              <a:rPr lang="en-US" dirty="0"/>
              <a:t>, 2007.</a:t>
            </a:r>
            <a:endParaRPr lang="en-IN" dirty="0"/>
          </a:p>
          <a:p>
            <a:pPr lvl="0">
              <a:spcBef>
                <a:spcPts val="100"/>
              </a:spcBef>
              <a:spcAft>
                <a:spcPts val="100"/>
              </a:spcAft>
            </a:pPr>
            <a:r>
              <a:rPr lang="en-US" dirty="0"/>
              <a:t>[3] R. Messier, </a:t>
            </a:r>
            <a:r>
              <a:rPr lang="en-US" i="1" dirty="0"/>
              <a:t>Wireless Network Security: A Beginner’s Guide</a:t>
            </a:r>
            <a:r>
              <a:rPr lang="en-US" dirty="0"/>
              <a:t>, McGraw-Hill, 2013.</a:t>
            </a:r>
            <a:endParaRPr lang="en-IN" dirty="0"/>
          </a:p>
          <a:p>
            <a:pPr lvl="0">
              <a:spcBef>
                <a:spcPts val="100"/>
              </a:spcBef>
              <a:spcAft>
                <a:spcPts val="100"/>
              </a:spcAft>
            </a:pPr>
            <a:r>
              <a:rPr lang="en-US" dirty="0"/>
              <a:t>[4] M. </a:t>
            </a:r>
            <a:r>
              <a:rPr lang="en-US" dirty="0" err="1"/>
              <a:t>Vanhoef</a:t>
            </a:r>
            <a:r>
              <a:rPr lang="en-US" dirty="0"/>
              <a:t> and F. </a:t>
            </a:r>
            <a:r>
              <a:rPr lang="en-US" dirty="0" err="1"/>
              <a:t>Piessens</a:t>
            </a:r>
            <a:r>
              <a:rPr lang="en-US" dirty="0"/>
              <a:t>, “Key Reinstallation Attacks: Forcing Nonce Reuse in WPA2,” in </a:t>
            </a:r>
            <a:r>
              <a:rPr lang="en-US" i="1" dirty="0"/>
              <a:t>Proc. ACM CCS</a:t>
            </a:r>
            <a:r>
              <a:rPr lang="en-US" dirty="0"/>
              <a:t>, 2017.</a:t>
            </a:r>
            <a:endParaRPr lang="en-IN" dirty="0"/>
          </a:p>
          <a:p>
            <a:pPr lvl="0">
              <a:spcBef>
                <a:spcPts val="100"/>
              </a:spcBef>
              <a:spcAft>
                <a:spcPts val="100"/>
              </a:spcAft>
            </a:pPr>
            <a:r>
              <a:rPr lang="en-US" dirty="0"/>
              <a:t>[5] J. Mitola, “The Software Radio Architecture,” </a:t>
            </a:r>
            <a:r>
              <a:rPr lang="en-US" i="1" dirty="0"/>
              <a:t>IEEE Communications Magazine</a:t>
            </a:r>
            <a:r>
              <a:rPr lang="en-US" dirty="0"/>
              <a:t>, vol. 33, no. 5, pp. 26–38, 1995.</a:t>
            </a:r>
            <a:endParaRPr lang="en-IN" dirty="0"/>
          </a:p>
          <a:p>
            <a:pPr lvl="0">
              <a:spcBef>
                <a:spcPts val="100"/>
              </a:spcBef>
              <a:spcAft>
                <a:spcPts val="100"/>
              </a:spcAft>
            </a:pPr>
            <a:r>
              <a:rPr lang="en-US" dirty="0"/>
              <a:t>[6] M. Reddy et al., “Wireless Penetration Testing using Raspberry Pi Platforms,” </a:t>
            </a:r>
            <a:r>
              <a:rPr lang="en-US" i="1" dirty="0"/>
              <a:t>International Journal of Cybersecurity</a:t>
            </a:r>
            <a:r>
              <a:rPr lang="en-US" dirty="0"/>
              <a:t>, 2021.</a:t>
            </a:r>
            <a:endParaRPr lang="en-IN" dirty="0"/>
          </a:p>
          <a:p>
            <a:pPr lvl="0">
              <a:spcBef>
                <a:spcPts val="100"/>
              </a:spcBef>
              <a:spcAft>
                <a:spcPts val="100"/>
              </a:spcAft>
            </a:pPr>
            <a:r>
              <a:rPr lang="en-US" dirty="0"/>
              <a:t>[7] N. Delija and M. Petrović, “Wireless Security Analysis using Embedded Linux Systems,”</a:t>
            </a:r>
            <a:r>
              <a:rPr lang="en-IN" dirty="0"/>
              <a:t> </a:t>
            </a:r>
            <a:r>
              <a:rPr lang="en-US" i="1" dirty="0"/>
              <a:t>IEEE Access</a:t>
            </a:r>
            <a:r>
              <a:rPr lang="en-US" dirty="0"/>
              <a:t>, 2022.</a:t>
            </a:r>
            <a:endParaRPr lang="en-IN" dirty="0"/>
          </a:p>
          <a:p>
            <a:pPr lvl="0">
              <a:spcBef>
                <a:spcPts val="100"/>
              </a:spcBef>
              <a:spcAft>
                <a:spcPts val="100"/>
              </a:spcAft>
            </a:pPr>
            <a:r>
              <a:rPr lang="en-US" dirty="0"/>
              <a:t>[8] A. Nazir and A. Laghari, “A Survey on Wireless Network Security Challenges,” </a:t>
            </a:r>
            <a:r>
              <a:rPr lang="en-US" i="1" dirty="0"/>
              <a:t>Journal of Network Security</a:t>
            </a:r>
            <a:r>
              <a:rPr lang="en-US" dirty="0"/>
              <a:t>, 2023.</a:t>
            </a:r>
            <a:endParaRPr lang="en-IN" dirty="0"/>
          </a:p>
          <a:p>
            <a:pPr lvl="0">
              <a:spcBef>
                <a:spcPts val="100"/>
              </a:spcBef>
              <a:spcAft>
                <a:spcPts val="100"/>
              </a:spcAft>
            </a:pPr>
            <a:r>
              <a:rPr lang="en-US" dirty="0"/>
              <a:t>[9] RTL-SDR Project Documentation, “RTL-SDR Tutorial and Applications,” 2024. [Online].</a:t>
            </a:r>
            <a:endParaRPr lang="en-IN" dirty="0"/>
          </a:p>
          <a:p>
            <a:pPr lvl="0">
              <a:spcBef>
                <a:spcPts val="100"/>
              </a:spcBef>
              <a:spcAft>
                <a:spcPts val="100"/>
              </a:spcAft>
            </a:pPr>
            <a:r>
              <a:rPr lang="en-US" dirty="0"/>
              <a:t>[10] Kali Linux Documentation, “Wireless Penetration Testing Tools,” Offensive Security, 2024.</a:t>
            </a:r>
            <a:endParaRPr lang="en-IN" dirty="0"/>
          </a:p>
          <a:p>
            <a:pPr lvl="0">
              <a:spcBef>
                <a:spcPts val="100"/>
              </a:spcBef>
              <a:spcAft>
                <a:spcPts val="100"/>
              </a:spcAft>
            </a:pPr>
            <a:r>
              <a:rPr lang="en-US" dirty="0"/>
              <a:t>[11] Bluetooth SIG, “Bluetooth Security Architecture,” 2023.</a:t>
            </a:r>
            <a:endParaRPr lang="en-IN" dirty="0"/>
          </a:p>
          <a:p>
            <a:pPr lvl="0">
              <a:spcBef>
                <a:spcPts val="100"/>
              </a:spcBef>
              <a:spcAft>
                <a:spcPts val="100"/>
              </a:spcAft>
            </a:pPr>
            <a:r>
              <a:rPr lang="en-US" dirty="0"/>
              <a:t>[12] Raspberry Pi Foundation, “Raspberry Pi 4 Model B Documentation,” 2024.</a:t>
            </a:r>
            <a:endParaRPr lang="en-IN" dirty="0"/>
          </a:p>
        </p:txBody>
      </p:sp>
      <p:sp>
        <p:nvSpPr>
          <p:cNvPr id="61" name="TextBox 60">
            <a:extLst>
              <a:ext uri="{FF2B5EF4-FFF2-40B4-BE49-F238E27FC236}">
                <a16:creationId xmlns:a16="http://schemas.microsoft.com/office/drawing/2014/main" id="{A6E6C31F-098B-45F7-BEE5-8A51FA70D59F}"/>
              </a:ext>
            </a:extLst>
          </p:cNvPr>
          <p:cNvSpPr txBox="1"/>
          <p:nvPr/>
        </p:nvSpPr>
        <p:spPr>
          <a:xfrm>
            <a:off x="33299400" y="21299269"/>
            <a:ext cx="9601200" cy="646331"/>
          </a:xfrm>
          <a:prstGeom prst="rect">
            <a:avLst/>
          </a:prstGeom>
          <a:noFill/>
        </p:spPr>
        <p:txBody>
          <a:bodyPr wrap="square" rtlCol="0">
            <a:spAutoFit/>
          </a:bodyPr>
          <a:lstStyle>
            <a:defPPr>
              <a:defRPr kern="1200" smtId="4294967295"/>
            </a:defPPr>
          </a:lstStyle>
          <a:p>
            <a:r>
              <a:rPr lang="en-US" sz="3600" dirty="0">
                <a:solidFill>
                  <a:srgbClr val="235078"/>
                </a:solidFill>
                <a:latin typeface="+mj-lt"/>
              </a:rPr>
              <a:t>References</a:t>
            </a:r>
          </a:p>
        </p:txBody>
      </p:sp>
      <p:sp>
        <p:nvSpPr>
          <p:cNvPr id="63" name="TextBox 62">
            <a:extLst>
              <a:ext uri="{FF2B5EF4-FFF2-40B4-BE49-F238E27FC236}">
                <a16:creationId xmlns:a16="http://schemas.microsoft.com/office/drawing/2014/main" id="{92D5F59B-F8CA-463C-871F-D1042309DE00}"/>
              </a:ext>
            </a:extLst>
          </p:cNvPr>
          <p:cNvSpPr txBox="1"/>
          <p:nvPr/>
        </p:nvSpPr>
        <p:spPr>
          <a:xfrm>
            <a:off x="1261269" y="17072324"/>
            <a:ext cx="9601200" cy="769441"/>
          </a:xfrm>
          <a:prstGeom prst="rect">
            <a:avLst/>
          </a:prstGeom>
          <a:noFill/>
        </p:spPr>
        <p:txBody>
          <a:bodyPr wrap="square" rtlCol="0">
            <a:spAutoFit/>
          </a:bodyPr>
          <a:lstStyle>
            <a:defPPr>
              <a:defRPr kern="1200" smtId="4294967295"/>
            </a:defPPr>
          </a:lstStyle>
          <a:p>
            <a:r>
              <a:rPr lang="en-US" sz="4400" dirty="0">
                <a:solidFill>
                  <a:srgbClr val="235078"/>
                </a:solidFill>
                <a:latin typeface="+mn-lt"/>
              </a:rPr>
              <a:t>Introduction</a:t>
            </a:r>
          </a:p>
        </p:txBody>
      </p:sp>
      <p:sp>
        <p:nvSpPr>
          <p:cNvPr id="65" name="TextBox 64">
            <a:extLst>
              <a:ext uri="{FF2B5EF4-FFF2-40B4-BE49-F238E27FC236}">
                <a16:creationId xmlns:a16="http://schemas.microsoft.com/office/drawing/2014/main" id="{68744D3E-CEF9-4748-9719-25AAABF27BDD}"/>
              </a:ext>
            </a:extLst>
          </p:cNvPr>
          <p:cNvSpPr txBox="1"/>
          <p:nvPr/>
        </p:nvSpPr>
        <p:spPr>
          <a:xfrm>
            <a:off x="11770946" y="12380105"/>
            <a:ext cx="9601200" cy="707886"/>
          </a:xfrm>
          <a:prstGeom prst="rect">
            <a:avLst/>
          </a:prstGeom>
          <a:noFill/>
        </p:spPr>
        <p:txBody>
          <a:bodyPr wrap="square" rtlCol="0">
            <a:spAutoFit/>
          </a:bodyPr>
          <a:lstStyle>
            <a:defPPr>
              <a:defRPr kern="1200" smtId="4294967295"/>
            </a:defPPr>
          </a:lstStyle>
          <a:p>
            <a:r>
              <a:rPr lang="en-US" sz="4000" dirty="0">
                <a:solidFill>
                  <a:srgbClr val="235078"/>
                </a:solidFill>
                <a:latin typeface="+mj-lt"/>
              </a:rPr>
              <a:t>Proposed Solution</a:t>
            </a:r>
          </a:p>
        </p:txBody>
      </p:sp>
      <p:sp>
        <p:nvSpPr>
          <p:cNvPr id="66" name="TextBox 65">
            <a:extLst>
              <a:ext uri="{FF2B5EF4-FFF2-40B4-BE49-F238E27FC236}">
                <a16:creationId xmlns:a16="http://schemas.microsoft.com/office/drawing/2014/main" id="{223EAA92-7B93-4F15-A4CA-18552CBA76AE}"/>
              </a:ext>
            </a:extLst>
          </p:cNvPr>
          <p:cNvSpPr txBox="1"/>
          <p:nvPr/>
        </p:nvSpPr>
        <p:spPr>
          <a:xfrm>
            <a:off x="11734800" y="19757990"/>
            <a:ext cx="9601200" cy="461665"/>
          </a:xfrm>
          <a:prstGeom prst="rect">
            <a:avLst/>
          </a:prstGeom>
          <a:noFill/>
        </p:spPr>
        <p:txBody>
          <a:bodyPr wrap="square" rtlCol="0">
            <a:spAutoFit/>
          </a:bodyPr>
          <a:lstStyle>
            <a:defPPr>
              <a:defRPr kern="1200" smtId="4294967295"/>
            </a:defPPr>
          </a:lstStyle>
          <a:p>
            <a:endParaRPr lang="en-US" dirty="0">
              <a:solidFill>
                <a:srgbClr val="1482A5"/>
              </a:solidFill>
              <a:latin typeface="Montserrat Light" panose="00000400000000000000" pitchFamily="50" charset="0"/>
              <a:ea typeface="Open Sans" panose="020B0606030504020204" pitchFamily="34" charset="0"/>
              <a:cs typeface="Open Sans" panose="020B0606030504020204" pitchFamily="34" charset="0"/>
            </a:endParaRPr>
          </a:p>
        </p:txBody>
      </p:sp>
      <p:sp>
        <p:nvSpPr>
          <p:cNvPr id="67" name="TextBox 66">
            <a:extLst>
              <a:ext uri="{FF2B5EF4-FFF2-40B4-BE49-F238E27FC236}">
                <a16:creationId xmlns:a16="http://schemas.microsoft.com/office/drawing/2014/main" id="{716F17B6-B5C7-4922-B9E2-CD14BD16A568}"/>
              </a:ext>
            </a:extLst>
          </p:cNvPr>
          <p:cNvSpPr txBox="1"/>
          <p:nvPr/>
        </p:nvSpPr>
        <p:spPr>
          <a:xfrm>
            <a:off x="11702853" y="21923219"/>
            <a:ext cx="9601200" cy="646331"/>
          </a:xfrm>
          <a:prstGeom prst="rect">
            <a:avLst/>
          </a:prstGeom>
          <a:noFill/>
        </p:spPr>
        <p:txBody>
          <a:bodyPr wrap="square" rtlCol="0">
            <a:spAutoFit/>
          </a:bodyPr>
          <a:lstStyle>
            <a:defPPr>
              <a:defRPr kern="1200" smtId="4294967295"/>
            </a:defPPr>
          </a:lstStyle>
          <a:p>
            <a:r>
              <a:rPr lang="en-US" sz="3600" dirty="0">
                <a:solidFill>
                  <a:srgbClr val="235078"/>
                </a:solidFill>
                <a:latin typeface="+mj-lt"/>
              </a:rPr>
              <a:t>Methodology</a:t>
            </a:r>
          </a:p>
        </p:txBody>
      </p:sp>
      <p:sp>
        <p:nvSpPr>
          <p:cNvPr id="68" name="TextBox 67">
            <a:extLst>
              <a:ext uri="{FF2B5EF4-FFF2-40B4-BE49-F238E27FC236}">
                <a16:creationId xmlns:a16="http://schemas.microsoft.com/office/drawing/2014/main" id="{47F717BC-0897-4243-A282-98EF911708EA}"/>
              </a:ext>
            </a:extLst>
          </p:cNvPr>
          <p:cNvSpPr txBox="1"/>
          <p:nvPr/>
        </p:nvSpPr>
        <p:spPr>
          <a:xfrm>
            <a:off x="22555200" y="8910935"/>
            <a:ext cx="9601200" cy="461665"/>
          </a:xfrm>
          <a:prstGeom prst="rect">
            <a:avLst/>
          </a:prstGeom>
          <a:noFill/>
        </p:spPr>
        <p:txBody>
          <a:bodyPr wrap="square" rtlCol="0">
            <a:spAutoFit/>
          </a:bodyPr>
          <a:lstStyle>
            <a:defPPr>
              <a:defRPr kern="1200" smtId="4294967295"/>
            </a:defPPr>
          </a:lstStyle>
          <a:p>
            <a:r>
              <a:rPr lang="en-US" dirty="0">
                <a:solidFill>
                  <a:srgbClr val="1482A5"/>
                </a:solidFill>
                <a:latin typeface="Montserrat Light" panose="00000400000000000000" pitchFamily="50" charset="0"/>
                <a:ea typeface="Open Sans" panose="020B0606030504020204" pitchFamily="34" charset="0"/>
                <a:cs typeface="Open Sans" panose="020B0606030504020204" pitchFamily="34" charset="0"/>
              </a:rPr>
              <a:t>.</a:t>
            </a:r>
          </a:p>
        </p:txBody>
      </p:sp>
      <p:sp>
        <p:nvSpPr>
          <p:cNvPr id="69" name="TextBox 68">
            <a:extLst>
              <a:ext uri="{FF2B5EF4-FFF2-40B4-BE49-F238E27FC236}">
                <a16:creationId xmlns:a16="http://schemas.microsoft.com/office/drawing/2014/main" id="{27A0BB3C-427E-42CA-963C-DA612C8F2B9C}"/>
              </a:ext>
            </a:extLst>
          </p:cNvPr>
          <p:cNvSpPr txBox="1"/>
          <p:nvPr/>
        </p:nvSpPr>
        <p:spPr>
          <a:xfrm>
            <a:off x="22555200" y="8763000"/>
            <a:ext cx="9601200" cy="769441"/>
          </a:xfrm>
          <a:prstGeom prst="rect">
            <a:avLst/>
          </a:prstGeom>
          <a:noFill/>
        </p:spPr>
        <p:txBody>
          <a:bodyPr wrap="square" rtlCol="0">
            <a:spAutoFit/>
          </a:bodyPr>
          <a:lstStyle>
            <a:defPPr>
              <a:defRPr kern="1200" smtId="4294967295"/>
            </a:defPPr>
          </a:lstStyle>
          <a:p>
            <a:r>
              <a:rPr lang="en-US" sz="4400" dirty="0">
                <a:solidFill>
                  <a:srgbClr val="235078"/>
                </a:solidFill>
                <a:latin typeface="+mn-lt"/>
              </a:rPr>
              <a:t>Results</a:t>
            </a:r>
          </a:p>
        </p:txBody>
      </p:sp>
      <p:sp>
        <p:nvSpPr>
          <p:cNvPr id="10" name="TextBox 9">
            <a:extLst>
              <a:ext uri="{FF2B5EF4-FFF2-40B4-BE49-F238E27FC236}">
                <a16:creationId xmlns:a16="http://schemas.microsoft.com/office/drawing/2014/main" id="{C4BF50B2-DE56-48AA-A13B-5CCA7CB8BFE8}"/>
              </a:ext>
            </a:extLst>
          </p:cNvPr>
          <p:cNvSpPr txBox="1"/>
          <p:nvPr/>
        </p:nvSpPr>
        <p:spPr>
          <a:xfrm>
            <a:off x="1170322" y="26539985"/>
            <a:ext cx="9465128" cy="707886"/>
          </a:xfrm>
          <a:prstGeom prst="rect">
            <a:avLst/>
          </a:prstGeom>
          <a:noFill/>
        </p:spPr>
        <p:txBody>
          <a:bodyPr wrap="square" rtlCol="0">
            <a:spAutoFit/>
          </a:bodyPr>
          <a:lstStyle/>
          <a:p>
            <a:r>
              <a:rPr lang="en-US" sz="4000" dirty="0">
                <a:solidFill>
                  <a:schemeClr val="accent5">
                    <a:lumMod val="75000"/>
                  </a:schemeClr>
                </a:solidFill>
                <a:latin typeface="+mn-lt"/>
              </a:rPr>
              <a:t>Problem statement</a:t>
            </a:r>
            <a:endParaRPr lang="en-IN" sz="4000" dirty="0">
              <a:solidFill>
                <a:schemeClr val="accent5">
                  <a:lumMod val="75000"/>
                </a:schemeClr>
              </a:solidFill>
              <a:latin typeface="+mn-lt"/>
            </a:endParaRPr>
          </a:p>
        </p:txBody>
      </p:sp>
      <p:sp>
        <p:nvSpPr>
          <p:cNvPr id="17" name="TextBox 16">
            <a:extLst>
              <a:ext uri="{FF2B5EF4-FFF2-40B4-BE49-F238E27FC236}">
                <a16:creationId xmlns:a16="http://schemas.microsoft.com/office/drawing/2014/main" id="{8F824E8E-9C44-46D3-A39E-C49DC20D0462}"/>
              </a:ext>
            </a:extLst>
          </p:cNvPr>
          <p:cNvSpPr txBox="1"/>
          <p:nvPr/>
        </p:nvSpPr>
        <p:spPr>
          <a:xfrm>
            <a:off x="1261269" y="27424571"/>
            <a:ext cx="9283234" cy="4893647"/>
          </a:xfrm>
          <a:prstGeom prst="rect">
            <a:avLst/>
          </a:prstGeom>
          <a:noFill/>
        </p:spPr>
        <p:txBody>
          <a:bodyPr wrap="square" rtlCol="0">
            <a:spAutoFit/>
          </a:bodyPr>
          <a:lstStyle/>
          <a:p>
            <a:r>
              <a:rPr lang="en-US" dirty="0"/>
              <a:t>Wireless communication systems are widely used across various domains; however, they are often deployed without proper security assessment mechanisms. Many users and </a:t>
            </a:r>
            <a:r>
              <a:rPr lang="en-US" dirty="0" err="1"/>
              <a:t>organisations</a:t>
            </a:r>
            <a:r>
              <a:rPr lang="en-US" dirty="0"/>
              <a:t> rely on wireless technologies without fully understanding the associated risks and vulnerabilities.</a:t>
            </a:r>
            <a:endParaRPr lang="en-IN" dirty="0"/>
          </a:p>
          <a:p>
            <a:r>
              <a:rPr lang="en-US" dirty="0"/>
              <a:t>Existing penetration testing tools are either expensive, complex, or limited to specific protocols, making them inaccessible for students and small-scale users. Additionally, most available solutions do not provide a unified platform for </a:t>
            </a:r>
            <a:r>
              <a:rPr lang="en-US" dirty="0" err="1"/>
              <a:t>analysing</a:t>
            </a:r>
            <a:r>
              <a:rPr lang="en-US" dirty="0"/>
              <a:t> multiple wireless protocols simultaneously.</a:t>
            </a:r>
            <a:endParaRPr lang="en-IN" dirty="0"/>
          </a:p>
          <a:p>
            <a:r>
              <a:rPr lang="en-US" dirty="0"/>
              <a:t>The lack of affordable and portable tools for multi-protocol wireless security analysis creates a gap in cybersecurity education. Students are unable to gain hands-on experience in identifying vulnerabilities across different wireless technologies, limiting their ability to understand real-world security challenges.</a:t>
            </a:r>
            <a:endParaRPr lang="en-IN" dirty="0"/>
          </a:p>
        </p:txBody>
      </p:sp>
      <p:sp>
        <p:nvSpPr>
          <p:cNvPr id="19" name="TextBox 18">
            <a:extLst>
              <a:ext uri="{FF2B5EF4-FFF2-40B4-BE49-F238E27FC236}">
                <a16:creationId xmlns:a16="http://schemas.microsoft.com/office/drawing/2014/main" id="{C1477D84-AD6F-4980-ABFC-C407D425B1B0}"/>
              </a:ext>
            </a:extLst>
          </p:cNvPr>
          <p:cNvSpPr txBox="1"/>
          <p:nvPr/>
        </p:nvSpPr>
        <p:spPr>
          <a:xfrm>
            <a:off x="1022577" y="8760270"/>
            <a:ext cx="9612873" cy="6555641"/>
          </a:xfrm>
          <a:prstGeom prst="rect">
            <a:avLst/>
          </a:prstGeom>
          <a:noFill/>
        </p:spPr>
        <p:txBody>
          <a:bodyPr wrap="square" rtlCol="0">
            <a:spAutoFit/>
          </a:bodyPr>
          <a:lstStyle/>
          <a:p>
            <a:pPr algn="just"/>
            <a:r>
              <a:rPr lang="en-US" sz="2000" dirty="0"/>
              <a:t>With the rapid advancement of wireless communication technologies, the need for efficient and portable security analysis systems has become increasingly important. The widespread use of Wi-Fi, Bluetooth, and radio-frequency (RF) communication introduces potential vulnerabilities that can be exploited, highlighting the importance of continuous monitoring and analysis. The proposed system, </a:t>
            </a:r>
            <a:r>
              <a:rPr lang="en-US" sz="2000" b="1" dirty="0"/>
              <a:t>RASFLIPPER</a:t>
            </a:r>
            <a:r>
              <a:rPr lang="en-US" sz="2000" dirty="0"/>
              <a:t>, is a portable multi-protocol wireless </a:t>
            </a:r>
            <a:r>
              <a:rPr lang="en-US" sz="2000" dirty="0" err="1"/>
              <a:t>pentesting</a:t>
            </a:r>
            <a:r>
              <a:rPr lang="en-US" sz="2000" dirty="0"/>
              <a:t> and signal analysis toolkit developed using the Raspberry Pi platform.</a:t>
            </a:r>
          </a:p>
          <a:p>
            <a:pPr algn="just"/>
            <a:r>
              <a:rPr lang="en-US" sz="2000" dirty="0"/>
              <a:t>The system integrates multiple technologies, including </a:t>
            </a:r>
            <a:r>
              <a:rPr lang="en-US" sz="2000" b="1" dirty="0"/>
              <a:t>Wi-Fi monitoring, Bluetooth device scanning, and Software Defined Radio (RTL-SDR),</a:t>
            </a:r>
            <a:r>
              <a:rPr lang="en-US" sz="2000" dirty="0"/>
              <a:t> to enable comprehensive analysis of wireless environments. Wi-Fi analysis is performed using monitor mode for network scanning and signal observation, while Bluetooth scanning enables real-time detection of nearby devices. Additionally, RTL-SDR is used for wideband RF signal monitoring, allowing physical-layer analysis beyond traditional network-level tools.</a:t>
            </a:r>
          </a:p>
          <a:p>
            <a:pPr algn="just"/>
            <a:r>
              <a:rPr lang="en-US" sz="2000" dirty="0"/>
              <a:t>The system follows a modular and scalable architecture, where each module operates independently and is controlled through a unified interface. Data is processed in real-time and stored in CSV format for further analysis. The compact design, powered by a portable power source, enables easy deployment in different environments.</a:t>
            </a:r>
          </a:p>
          <a:p>
            <a:pPr algn="just"/>
            <a:r>
              <a:rPr lang="en-US" sz="2000" dirty="0"/>
              <a:t>The proposed system provides a low-cost, user-friendly, and efficient platform for </a:t>
            </a:r>
            <a:r>
              <a:rPr lang="en-US" sz="2000" b="1" dirty="0"/>
              <a:t>cybersecurity education, ethical hacking practice, and wireless signal analysis</a:t>
            </a:r>
            <a:r>
              <a:rPr lang="en-US" sz="2000" dirty="0"/>
              <a:t>. By combining multiple protocols into a single device, RASFLIPPER bridges the gap between theoretical knowledge and practical implementation, offering hands-on experience in modern wireless security techniques.</a:t>
            </a:r>
          </a:p>
        </p:txBody>
      </p:sp>
      <p:sp>
        <p:nvSpPr>
          <p:cNvPr id="20" name="TextBox 19">
            <a:extLst>
              <a:ext uri="{FF2B5EF4-FFF2-40B4-BE49-F238E27FC236}">
                <a16:creationId xmlns:a16="http://schemas.microsoft.com/office/drawing/2014/main" id="{2A718C2E-16EC-48FF-AC43-BE1789811ED2}"/>
              </a:ext>
            </a:extLst>
          </p:cNvPr>
          <p:cNvSpPr txBox="1"/>
          <p:nvPr/>
        </p:nvSpPr>
        <p:spPr>
          <a:xfrm>
            <a:off x="1143000" y="17907000"/>
            <a:ext cx="9446366" cy="8402300"/>
          </a:xfrm>
          <a:prstGeom prst="rect">
            <a:avLst/>
          </a:prstGeom>
          <a:noFill/>
        </p:spPr>
        <p:txBody>
          <a:bodyPr wrap="square" rtlCol="0">
            <a:spAutoFit/>
          </a:bodyPr>
          <a:lstStyle/>
          <a:p>
            <a:pPr algn="just"/>
            <a:r>
              <a:rPr lang="en-US" sz="2000" dirty="0"/>
              <a:t>Wireless communication technologies such as Wi-Fi, Bluetooth, and radio-frequency (RF) systems have become an integral part of modern digital infrastructure. These technologies are widely used in smartphones, IoT devices, smart homes, industrial automation, and communication systems, enabling seamless connectivity and efficient data exchange. However, the rapid expansion of wireless systems has significantly increased exposure to security vulnerabilities.</a:t>
            </a:r>
          </a:p>
          <a:p>
            <a:pPr algn="just"/>
            <a:r>
              <a:rPr lang="en-US" sz="2000" dirty="0"/>
              <a:t>In recent years, cyber threats targeting wireless networks have grown considerably. Issues such as </a:t>
            </a:r>
            <a:r>
              <a:rPr lang="en-US" sz="2000" dirty="0" err="1"/>
              <a:t>unauthorised</a:t>
            </a:r>
            <a:r>
              <a:rPr lang="en-US" sz="2000" dirty="0"/>
              <a:t> access, device tracking, signal interception, and exploitation of communication protocols pose serious challenges in cybersecurity. Many of these vulnerabilities arise due to weak configurations, outdated security mechanisms, a lack of continuous monitoring, and limited awareness among users.</a:t>
            </a:r>
          </a:p>
          <a:p>
            <a:pPr algn="just"/>
            <a:r>
              <a:rPr lang="en-US" sz="2000" dirty="0"/>
              <a:t>Traditional cybersecurity education often focuses more on theoretical concepts, with limited emphasis on practical implementation. Although advanced penetration testing and signal analysis tools are available, they are often expensive, complex, and difficult to access for students and educational institutions. This creates a gap between academic learning and real-world application.</a:t>
            </a:r>
          </a:p>
          <a:p>
            <a:pPr algn="just"/>
            <a:r>
              <a:rPr lang="en-US" sz="2000" dirty="0"/>
              <a:t>To overcome these challenges, the project </a:t>
            </a:r>
            <a:r>
              <a:rPr lang="en-US" sz="2000" b="1" dirty="0"/>
              <a:t>RASFLIPPER – Portable Multi-Protocol Wireless </a:t>
            </a:r>
            <a:r>
              <a:rPr lang="en-US" sz="2000" b="1" dirty="0" err="1"/>
              <a:t>Pentesting</a:t>
            </a:r>
            <a:r>
              <a:rPr lang="en-US" sz="2000" b="1" dirty="0"/>
              <a:t> Toolkit</a:t>
            </a:r>
            <a:r>
              <a:rPr lang="en-US" sz="2000" dirty="0"/>
              <a:t> is proposed as a low-cost, portable, and efficient solution. The system is developed using the Raspberry Pi platform, leveraging its compact design, flexibility, and compatibility with multiple hardware modules.</a:t>
            </a:r>
          </a:p>
          <a:p>
            <a:pPr algn="just"/>
            <a:r>
              <a:rPr lang="en-US" sz="2000" dirty="0"/>
              <a:t>The system integrates multiple wireless analysis technologies into a single unified platform. It includes Wi-Fi monitoring using a monitor mode adapter, Bluetooth device scanning using a USB dongle, and RF signal analysis using Software Defined Radio (RTL-SDR). This enables comprehensive multi-protocol analysis covering both network-layer and physical-layer communication.</a:t>
            </a:r>
          </a:p>
          <a:p>
            <a:pPr algn="just"/>
            <a:r>
              <a:rPr lang="en-US" sz="2000" dirty="0"/>
              <a:t>The system is designed with a modular architecture, allowing each component to operate independently while maintaining overall integration.</a:t>
            </a:r>
          </a:p>
        </p:txBody>
      </p:sp>
      <p:sp>
        <p:nvSpPr>
          <p:cNvPr id="21" name="TextBox 20">
            <a:extLst>
              <a:ext uri="{FF2B5EF4-FFF2-40B4-BE49-F238E27FC236}">
                <a16:creationId xmlns:a16="http://schemas.microsoft.com/office/drawing/2014/main" id="{24215694-4F86-4C0E-9CA4-40192CC3BFBE}"/>
              </a:ext>
            </a:extLst>
          </p:cNvPr>
          <p:cNvSpPr txBox="1"/>
          <p:nvPr/>
        </p:nvSpPr>
        <p:spPr>
          <a:xfrm>
            <a:off x="11854883" y="13110562"/>
            <a:ext cx="9601200" cy="3416320"/>
          </a:xfrm>
          <a:prstGeom prst="rect">
            <a:avLst/>
          </a:prstGeom>
          <a:noFill/>
        </p:spPr>
        <p:txBody>
          <a:bodyPr wrap="square" rtlCol="0">
            <a:spAutoFit/>
          </a:bodyPr>
          <a:lstStyle/>
          <a:p>
            <a:pPr algn="just"/>
            <a:r>
              <a:rPr lang="en-US" dirty="0"/>
              <a:t>The proposed system, </a:t>
            </a:r>
            <a:r>
              <a:rPr lang="en-US" b="1" dirty="0"/>
              <a:t>RASFLIPPER</a:t>
            </a:r>
            <a:r>
              <a:rPr lang="en-US" dirty="0"/>
              <a:t>, is a portable and low-cost wireless analysis toolkit developed using a Raspberry Pi. It integrates Wi-Fi monitoring, Bluetooth scanning, and RF signal analysis using Software Defined Radio into a single platform. The system performs real-time scanning and analysis of wireless environments.</a:t>
            </a:r>
          </a:p>
          <a:p>
            <a:pPr algn="just"/>
            <a:r>
              <a:rPr lang="en-US" dirty="0"/>
              <a:t>It follows a modular architecture where each module operates independently and is controlled through a common interface. Data is displayed on the screen and stored in CSV format for further analysis. The compact and portable design makes it suitable for practical wireless security applications.</a:t>
            </a:r>
          </a:p>
        </p:txBody>
      </p:sp>
      <p:sp>
        <p:nvSpPr>
          <p:cNvPr id="22" name="TextBox 21">
            <a:extLst>
              <a:ext uri="{FF2B5EF4-FFF2-40B4-BE49-F238E27FC236}">
                <a16:creationId xmlns:a16="http://schemas.microsoft.com/office/drawing/2014/main" id="{8B1C8704-814B-49B7-8456-EB26A35C6DC8}"/>
              </a:ext>
            </a:extLst>
          </p:cNvPr>
          <p:cNvSpPr txBox="1"/>
          <p:nvPr/>
        </p:nvSpPr>
        <p:spPr>
          <a:xfrm>
            <a:off x="11734800" y="8087075"/>
            <a:ext cx="9601200" cy="830997"/>
          </a:xfrm>
          <a:prstGeom prst="rect">
            <a:avLst/>
          </a:prstGeom>
          <a:noFill/>
        </p:spPr>
        <p:txBody>
          <a:bodyPr wrap="square" rtlCol="0">
            <a:spAutoFit/>
          </a:bodyPr>
          <a:lstStyle/>
          <a:p>
            <a:r>
              <a:rPr lang="en-US" sz="4800" dirty="0">
                <a:solidFill>
                  <a:schemeClr val="accent5">
                    <a:lumMod val="75000"/>
                  </a:schemeClr>
                </a:solidFill>
                <a:cs typeface="Times New Roman" panose="02020603050405020304" pitchFamily="18" charset="0"/>
              </a:rPr>
              <a:t>Objectives</a:t>
            </a:r>
            <a:endParaRPr lang="en-IN" sz="4800" dirty="0">
              <a:solidFill>
                <a:schemeClr val="accent5">
                  <a:lumMod val="75000"/>
                </a:schemeClr>
              </a:solidFill>
              <a:cs typeface="Times New Roman" panose="02020603050405020304" pitchFamily="18" charset="0"/>
            </a:endParaRPr>
          </a:p>
        </p:txBody>
      </p:sp>
      <p:sp>
        <p:nvSpPr>
          <p:cNvPr id="23" name="TextBox 22">
            <a:extLst>
              <a:ext uri="{FF2B5EF4-FFF2-40B4-BE49-F238E27FC236}">
                <a16:creationId xmlns:a16="http://schemas.microsoft.com/office/drawing/2014/main" id="{AD934EE0-452E-4037-8174-1A9CD5797C7C}"/>
              </a:ext>
            </a:extLst>
          </p:cNvPr>
          <p:cNvSpPr txBox="1"/>
          <p:nvPr/>
        </p:nvSpPr>
        <p:spPr>
          <a:xfrm>
            <a:off x="11880929" y="9124106"/>
            <a:ext cx="9635990" cy="3170099"/>
          </a:xfrm>
          <a:prstGeom prst="rect">
            <a:avLst/>
          </a:prstGeom>
          <a:noFill/>
        </p:spPr>
        <p:txBody>
          <a:bodyPr wrap="square" rtlCol="0">
            <a:spAutoFit/>
          </a:bodyPr>
          <a:lstStyle/>
          <a:p>
            <a:pPr algn="just"/>
            <a:r>
              <a:rPr lang="en-US" sz="2000" dirty="0"/>
              <a:t>The primary objective of the RASFLIPPER project is to develop a portable and low-cost wireless </a:t>
            </a:r>
            <a:r>
              <a:rPr lang="en-US" sz="2000" dirty="0" err="1"/>
              <a:t>pentesting</a:t>
            </a:r>
            <a:r>
              <a:rPr lang="en-US" sz="2000" dirty="0"/>
              <a:t> toolkit for practical use. The system aims to integrate multiple wireless protocols into a single platform for efficient analysis. It provides Wi-Fi network scanning capabilities to observe wireless environments and supports Bluetooth device detection for monitoring nearby devices. The project also includes RF signal analysis using Software Defined Radio to extend functionality to physical-layer communication.</a:t>
            </a:r>
          </a:p>
          <a:p>
            <a:pPr algn="just"/>
            <a:r>
              <a:rPr lang="en-US" sz="2000" dirty="0"/>
              <a:t>Additionally, the system is designed with a simple and user-friendly interface to ensure easy interaction. A modular architecture is adopted to support scalability and future enhancements. The project focuses on delivering real-time analysis and data logging. Overall, it promotes hands-on learning in cybersecurity and wireless communication.</a:t>
            </a:r>
          </a:p>
        </p:txBody>
      </p:sp>
      <p:sp>
        <p:nvSpPr>
          <p:cNvPr id="24" name="TextBox 23">
            <a:extLst>
              <a:ext uri="{FF2B5EF4-FFF2-40B4-BE49-F238E27FC236}">
                <a16:creationId xmlns:a16="http://schemas.microsoft.com/office/drawing/2014/main" id="{C111BD69-F189-442E-AF5D-10CF25CF6BAB}"/>
              </a:ext>
            </a:extLst>
          </p:cNvPr>
          <p:cNvSpPr txBox="1"/>
          <p:nvPr/>
        </p:nvSpPr>
        <p:spPr>
          <a:xfrm>
            <a:off x="33291848" y="8839200"/>
            <a:ext cx="9417503" cy="5262979"/>
          </a:xfrm>
          <a:prstGeom prst="rect">
            <a:avLst/>
          </a:prstGeom>
          <a:noFill/>
        </p:spPr>
        <p:txBody>
          <a:bodyPr wrap="square" rtlCol="0">
            <a:spAutoFit/>
          </a:bodyPr>
          <a:lstStyle/>
          <a:p>
            <a:pPr algn="just">
              <a:spcAft>
                <a:spcPts val="1000"/>
              </a:spcAft>
            </a:pPr>
            <a:r>
              <a:rPr lang="en-US" dirty="0"/>
              <a:t>The RASFLIPPER system presents a low-cost and portable </a:t>
            </a:r>
            <a:r>
              <a:rPr lang="en-US" dirty="0" err="1"/>
              <a:t>pentesting</a:t>
            </a:r>
            <a:r>
              <a:rPr lang="en-US" dirty="0"/>
              <a:t> toolkit that integrates Wi-Fi, Bluetooth, and SDR into a single platform. It enables real-time monitoring and analysis of wireless environments, helping users detect vulnerabilities and understand communication protocols. The use of Raspberry Pi OS ensures flexibility and ease of development, while the Python-based implementation allows </a:t>
            </a:r>
            <a:r>
              <a:rPr lang="en-US" dirty="0" err="1"/>
              <a:t>customisation</a:t>
            </a:r>
            <a:r>
              <a:rPr lang="en-US" dirty="0"/>
              <a:t> and scalability. The modular design supports independent operation of each component and allows future enhancements. CSV-based data logging improves usability and supports further analysis. The project also addresses practical challenges such as hardware limitations and integration constraints. </a:t>
            </a:r>
            <a:r>
              <a:rPr lang="en-US" dirty="0" err="1"/>
              <a:t>Optimisation</a:t>
            </a:r>
            <a:r>
              <a:rPr lang="en-US" dirty="0"/>
              <a:t> decisions helped improve system stability and performance. It bridges the gap between theoretical knowledge and practical implementation. Overall, the project successfully demonstrates a reliable and efficient wireless security analysis solution.</a:t>
            </a:r>
            <a:endParaRPr lang="en-IN"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7CF8C0D-F0D5-4190-809F-F1756C290B54}"/>
              </a:ext>
            </a:extLst>
          </p:cNvPr>
          <p:cNvSpPr txBox="1"/>
          <p:nvPr/>
        </p:nvSpPr>
        <p:spPr>
          <a:xfrm>
            <a:off x="33233065" y="14062770"/>
            <a:ext cx="9635558" cy="3539430"/>
          </a:xfrm>
          <a:prstGeom prst="rect">
            <a:avLst/>
          </a:prstGeom>
          <a:noFill/>
        </p:spPr>
        <p:txBody>
          <a:bodyPr wrap="square" rtlCol="0">
            <a:spAutoFit/>
          </a:bodyPr>
          <a:lstStyle/>
          <a:p>
            <a:pPr algn="just"/>
            <a:r>
              <a:rPr lang="en-US" sz="3600" b="1" dirty="0">
                <a:solidFill>
                  <a:schemeClr val="accent5">
                    <a:lumMod val="75000"/>
                  </a:schemeClr>
                </a:solidFill>
              </a:rPr>
              <a:t>Advantages:</a:t>
            </a:r>
            <a:endParaRPr lang="en-IN" sz="3200" dirty="0">
              <a:solidFill>
                <a:schemeClr val="accent5">
                  <a:lumMod val="75000"/>
                </a:schemeClr>
              </a:solidFill>
            </a:endParaRPr>
          </a:p>
          <a:p>
            <a:pPr marL="514350" lvl="0" indent="-514350" algn="just">
              <a:buFont typeface="+mj-lt"/>
              <a:buAutoNum type="arabicParenR"/>
            </a:pPr>
            <a:r>
              <a:rPr lang="en-US" b="1" dirty="0"/>
              <a:t>Mobile Application Interface </a:t>
            </a:r>
            <a:r>
              <a:rPr lang="en-US" dirty="0"/>
              <a:t>Develop an Android/iOS app for controlling the device, viewing live scans, and receiving instant alerts.</a:t>
            </a:r>
          </a:p>
          <a:p>
            <a:pPr marL="514350" lvl="0" indent="-514350" algn="just">
              <a:buFont typeface="+mj-lt"/>
              <a:buAutoNum type="arabicParenR"/>
            </a:pPr>
            <a:r>
              <a:rPr lang="en-US" sz="2800" b="1" dirty="0"/>
              <a:t>AI-Based Threat Detection: </a:t>
            </a:r>
            <a:r>
              <a:rPr lang="en-US" sz="2800" dirty="0"/>
              <a:t>Integrate machine learning models to automatically identify suspicious patterns, unknown devices, and anomalous wireless </a:t>
            </a:r>
            <a:r>
              <a:rPr lang="en-US" sz="2800" dirty="0" err="1"/>
              <a:t>behaviour</a:t>
            </a:r>
            <a:r>
              <a:rPr lang="en-US" sz="2800" dirty="0"/>
              <a:t> in real time.</a:t>
            </a:r>
            <a:endParaRPr lang="en-IN" sz="2800" b="1" dirty="0"/>
          </a:p>
          <a:p>
            <a:pPr marL="514350" lvl="0" indent="-514350" algn="just">
              <a:buFont typeface="+mj-lt"/>
              <a:buAutoNum type="arabicParenR"/>
            </a:pPr>
            <a:endParaRPr lang="en-IN" sz="2800" dirty="0"/>
          </a:p>
          <a:p>
            <a:pPr marL="514350" indent="-514350" algn="just">
              <a:buFont typeface="+mj-lt"/>
              <a:buAutoNum type="arabicParenR"/>
            </a:pPr>
            <a:endParaRPr lang="en-IN" sz="2800" dirty="0"/>
          </a:p>
        </p:txBody>
      </p:sp>
      <p:sp>
        <p:nvSpPr>
          <p:cNvPr id="27" name="TextBox 26">
            <a:extLst>
              <a:ext uri="{FF2B5EF4-FFF2-40B4-BE49-F238E27FC236}">
                <a16:creationId xmlns:a16="http://schemas.microsoft.com/office/drawing/2014/main" id="{7A6E1B96-F8AE-4ADD-AA6D-65624C04C998}"/>
              </a:ext>
            </a:extLst>
          </p:cNvPr>
          <p:cNvSpPr txBox="1"/>
          <p:nvPr/>
        </p:nvSpPr>
        <p:spPr>
          <a:xfrm>
            <a:off x="33391700" y="17565231"/>
            <a:ext cx="9254331" cy="224676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Integration of AI for automated threat detection</a:t>
            </a:r>
          </a:p>
          <a:p>
            <a:pPr marL="457200" indent="-457200" algn="just">
              <a:buFont typeface="Arial" panose="020B0604020202020204" pitchFamily="34" charset="0"/>
              <a:buChar char="•"/>
            </a:pPr>
            <a:r>
              <a:rPr lang="en-US" sz="2800" dirty="0"/>
              <a:t>Support for additional protocols like Zigbee, LoRa, and RFID</a:t>
            </a:r>
          </a:p>
          <a:p>
            <a:pPr marL="457200" indent="-457200" algn="just">
              <a:buFont typeface="Arial" panose="020B0604020202020204" pitchFamily="34" charset="0"/>
              <a:buChar char="•"/>
            </a:pPr>
            <a:r>
              <a:rPr lang="en-US" sz="2800" dirty="0"/>
              <a:t>Development of a mobile app for remote control and monitoring</a:t>
            </a:r>
            <a:endParaRPr lang="en-IN" sz="2800" dirty="0"/>
          </a:p>
        </p:txBody>
      </p:sp>
      <p:sp>
        <p:nvSpPr>
          <p:cNvPr id="28" name="TextBox 27">
            <a:extLst>
              <a:ext uri="{FF2B5EF4-FFF2-40B4-BE49-F238E27FC236}">
                <a16:creationId xmlns:a16="http://schemas.microsoft.com/office/drawing/2014/main" id="{E3373108-E08D-4D84-8182-46BCF2744E65}"/>
              </a:ext>
            </a:extLst>
          </p:cNvPr>
          <p:cNvSpPr txBox="1"/>
          <p:nvPr/>
        </p:nvSpPr>
        <p:spPr>
          <a:xfrm>
            <a:off x="33375600" y="16803469"/>
            <a:ext cx="7814922" cy="646331"/>
          </a:xfrm>
          <a:prstGeom prst="rect">
            <a:avLst/>
          </a:prstGeom>
          <a:noFill/>
        </p:spPr>
        <p:txBody>
          <a:bodyPr wrap="square" rtlCol="0">
            <a:spAutoFit/>
          </a:bodyPr>
          <a:lstStyle/>
          <a:p>
            <a:r>
              <a:rPr lang="en-US" sz="3600" dirty="0">
                <a:solidFill>
                  <a:schemeClr val="accent5">
                    <a:lumMod val="75000"/>
                  </a:schemeClr>
                </a:solidFill>
              </a:rPr>
              <a:t>Future scope</a:t>
            </a:r>
            <a:endParaRPr lang="en-IN" sz="3600" dirty="0">
              <a:solidFill>
                <a:schemeClr val="accent5">
                  <a:lumMod val="75000"/>
                </a:schemeClr>
              </a:solidFill>
            </a:endParaRPr>
          </a:p>
        </p:txBody>
      </p:sp>
      <p:pic>
        <p:nvPicPr>
          <p:cNvPr id="43" name="image1.png" descr="Text&#10;&#10;Description automatically generated"/>
          <p:cNvPicPr/>
          <p:nvPr/>
        </p:nvPicPr>
        <p:blipFill>
          <a:blip r:embed="rId7"/>
          <a:srcRect/>
          <a:stretch>
            <a:fillRect/>
          </a:stretch>
        </p:blipFill>
        <p:spPr>
          <a:xfrm>
            <a:off x="762000" y="457200"/>
            <a:ext cx="5410201" cy="1752477"/>
          </a:xfrm>
          <a:prstGeom prst="rect">
            <a:avLst/>
          </a:prstGeom>
          <a:ln/>
        </p:spPr>
      </p:pic>
      <p:sp>
        <p:nvSpPr>
          <p:cNvPr id="53" name="TextBox 52">
            <a:extLst>
              <a:ext uri="{FF2B5EF4-FFF2-40B4-BE49-F238E27FC236}">
                <a16:creationId xmlns:a16="http://schemas.microsoft.com/office/drawing/2014/main" id="{9F7A9A76-FA3C-4108-8798-96686C4DE697}"/>
              </a:ext>
            </a:extLst>
          </p:cNvPr>
          <p:cNvSpPr txBox="1"/>
          <p:nvPr/>
        </p:nvSpPr>
        <p:spPr>
          <a:xfrm>
            <a:off x="12380410" y="20618888"/>
            <a:ext cx="4668066" cy="777777"/>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Fig.1(a). </a:t>
            </a:r>
            <a:r>
              <a:rPr lang="en-US" sz="2000" dirty="0">
                <a:solidFill>
                  <a:srgbClr val="000000"/>
                </a:solidFill>
                <a:ea typeface="Calibri" panose="020F0502020204030204" pitchFamily="34" charset="0"/>
                <a:cs typeface="Times New Roman" panose="02020603050405020304" pitchFamily="18" charset="0"/>
              </a:rPr>
              <a:t>ARCHITECTURE DIAGRAM of RASFLIPPER</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6" name="TextBox 55">
            <a:extLst>
              <a:ext uri="{FF2B5EF4-FFF2-40B4-BE49-F238E27FC236}">
                <a16:creationId xmlns:a16="http://schemas.microsoft.com/office/drawing/2014/main" id="{340A1C8A-8D68-48B6-8026-57D1654319C7}"/>
              </a:ext>
            </a:extLst>
          </p:cNvPr>
          <p:cNvSpPr txBox="1"/>
          <p:nvPr/>
        </p:nvSpPr>
        <p:spPr>
          <a:xfrm>
            <a:off x="2580441" y="31435883"/>
            <a:ext cx="28498800" cy="490199"/>
          </a:xfrm>
          <a:prstGeom prst="rect">
            <a:avLst/>
          </a:prstGeom>
          <a:noFill/>
        </p:spPr>
        <p:txBody>
          <a:bodyPr wrap="square">
            <a:spAutoFit/>
          </a:bodyPr>
          <a:lstStyle/>
          <a:p>
            <a:pPr algn="ctr">
              <a:lnSpc>
                <a:spcPct val="115000"/>
              </a:lnSpc>
              <a:spcAft>
                <a:spcPts val="1000"/>
              </a:spcAft>
              <a:tabLst>
                <a:tab pos="85725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Fig.2. Flow Chart of the Complete Process of the proposed project</a:t>
            </a:r>
            <a:endParaRPr lang="en-IN" sz="20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3" name="TextBox 72">
            <a:extLst>
              <a:ext uri="{FF2B5EF4-FFF2-40B4-BE49-F238E27FC236}">
                <a16:creationId xmlns:a16="http://schemas.microsoft.com/office/drawing/2014/main" id="{163E7FE4-B138-4ED9-AE8E-384D4431EBC6}"/>
              </a:ext>
            </a:extLst>
          </p:cNvPr>
          <p:cNvSpPr txBox="1"/>
          <p:nvPr/>
        </p:nvSpPr>
        <p:spPr>
          <a:xfrm>
            <a:off x="28441264" y="29564057"/>
            <a:ext cx="3063747" cy="1200329"/>
          </a:xfrm>
          <a:prstGeom prst="rect">
            <a:avLst/>
          </a:prstGeom>
          <a:noFill/>
        </p:spPr>
        <p:txBody>
          <a:bodyPr wrap="square">
            <a:spAutoFit/>
          </a:bodyPr>
          <a:lstStyle/>
          <a:p>
            <a:r>
              <a:rPr lang="en-US" sz="2400" dirty="0">
                <a:solidFill>
                  <a:srgbClr val="000000"/>
                </a:solidFill>
                <a:effectLst/>
                <a:latin typeface="Times New Roman" panose="02020603050405020304" pitchFamily="18" charset="0"/>
                <a:ea typeface="Calibri" panose="020F0502020204030204" pitchFamily="34" charset="0"/>
              </a:rPr>
              <a:t>Fig.6(b)</a:t>
            </a:r>
            <a:r>
              <a:rPr lang="en-US" dirty="0">
                <a:solidFill>
                  <a:srgbClr val="000000"/>
                </a:solidFill>
                <a:ea typeface="Calibri" panose="020F0502020204030204" pitchFamily="34" charset="0"/>
              </a:rPr>
              <a:t>.</a:t>
            </a:r>
            <a:r>
              <a:rPr lang="en-US" sz="2400" dirty="0">
                <a:solidFill>
                  <a:srgbClr val="000000"/>
                </a:solidFill>
                <a:effectLst/>
                <a:latin typeface="Times New Roman" panose="02020603050405020304" pitchFamily="18" charset="0"/>
                <a:ea typeface="Calibri" panose="020F0502020204030204" pitchFamily="34" charset="0"/>
              </a:rPr>
              <a:t> </a:t>
            </a:r>
            <a:r>
              <a:rPr lang="en-US" dirty="0">
                <a:solidFill>
                  <a:srgbClr val="000000"/>
                </a:solidFill>
                <a:ea typeface="Calibri" panose="020F0502020204030204" pitchFamily="34" charset="0"/>
              </a:rPr>
              <a:t>Program Exit – RASFLIPPER Session Termination</a:t>
            </a:r>
            <a:endParaRPr lang="en-IN" dirty="0"/>
          </a:p>
        </p:txBody>
      </p:sp>
      <p:sp>
        <p:nvSpPr>
          <p:cNvPr id="74" name="TextBox 73">
            <a:extLst>
              <a:ext uri="{FF2B5EF4-FFF2-40B4-BE49-F238E27FC236}">
                <a16:creationId xmlns:a16="http://schemas.microsoft.com/office/drawing/2014/main" id="{871C3A73-B304-4879-8687-E2BF7D251421}"/>
              </a:ext>
            </a:extLst>
          </p:cNvPr>
          <p:cNvSpPr txBox="1"/>
          <p:nvPr/>
        </p:nvSpPr>
        <p:spPr>
          <a:xfrm>
            <a:off x="22992535" y="24155400"/>
            <a:ext cx="2197240" cy="1485663"/>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Fig.5(</a:t>
            </a:r>
            <a:r>
              <a:rPr lang="en-US" sz="2000" dirty="0">
                <a:solidFill>
                  <a:srgbClr val="000000"/>
                </a:solidFill>
                <a:ea typeface="Calibri" panose="020F0502020204030204" pitchFamily="34" charset="0"/>
                <a:cs typeface="Times New Roman" panose="02020603050405020304" pitchFamily="18" charset="0"/>
              </a:rPr>
              <a:t>a</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a typeface="Calibri" panose="020F0502020204030204" pitchFamily="34" charset="0"/>
                <a:cs typeface="Times New Roman" panose="02020603050405020304" pitchFamily="18" charset="0"/>
              </a:rPr>
              <a:t>Bluetooth Scan Results Logged (CSV File Generated)</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6" name="TextBox 75">
            <a:extLst>
              <a:ext uri="{FF2B5EF4-FFF2-40B4-BE49-F238E27FC236}">
                <a16:creationId xmlns:a16="http://schemas.microsoft.com/office/drawing/2014/main" id="{A9D56C8C-05B2-4BCA-810F-180DDB641D09}"/>
              </a:ext>
            </a:extLst>
          </p:cNvPr>
          <p:cNvSpPr txBox="1"/>
          <p:nvPr/>
        </p:nvSpPr>
        <p:spPr>
          <a:xfrm>
            <a:off x="29698449" y="24231600"/>
            <a:ext cx="2197240" cy="1131720"/>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Fig.5(c). Menu Selection – SDR Scanner Module</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7" name="TextBox 76">
            <a:extLst>
              <a:ext uri="{FF2B5EF4-FFF2-40B4-BE49-F238E27FC236}">
                <a16:creationId xmlns:a16="http://schemas.microsoft.com/office/drawing/2014/main" id="{D1C287DD-B69A-434B-8B5F-185294E3D1EB}"/>
              </a:ext>
            </a:extLst>
          </p:cNvPr>
          <p:cNvSpPr txBox="1"/>
          <p:nvPr/>
        </p:nvSpPr>
        <p:spPr>
          <a:xfrm>
            <a:off x="26330290" y="18452487"/>
            <a:ext cx="2132973" cy="1485663"/>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Fig.4(</a:t>
            </a:r>
            <a:r>
              <a:rPr lang="en-US" sz="2000" dirty="0">
                <a:solidFill>
                  <a:srgbClr val="000000"/>
                </a:solidFill>
                <a:ea typeface="Calibri" panose="020F0502020204030204" pitchFamily="34" charset="0"/>
                <a:cs typeface="Times New Roman" panose="02020603050405020304" pitchFamily="18" charset="0"/>
              </a:rPr>
              <a:t>b</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a typeface="Calibri" panose="020F0502020204030204" pitchFamily="34" charset="0"/>
                <a:cs typeface="Times New Roman" panose="02020603050405020304" pitchFamily="18" charset="0"/>
              </a:rPr>
              <a:t>Menu Selection – Bluetooth Scanner Module</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8" name="TextBox 77">
            <a:extLst>
              <a:ext uri="{FF2B5EF4-FFF2-40B4-BE49-F238E27FC236}">
                <a16:creationId xmlns:a16="http://schemas.microsoft.com/office/drawing/2014/main" id="{807E7894-6508-47BB-B97C-40B096809471}"/>
              </a:ext>
            </a:extLst>
          </p:cNvPr>
          <p:cNvSpPr txBox="1"/>
          <p:nvPr/>
        </p:nvSpPr>
        <p:spPr>
          <a:xfrm>
            <a:off x="22936200" y="18364200"/>
            <a:ext cx="2280455" cy="1485663"/>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Fig.4(</a:t>
            </a:r>
            <a:r>
              <a:rPr lang="en-US" sz="2000" dirty="0">
                <a:solidFill>
                  <a:srgbClr val="000000"/>
                </a:solidFill>
                <a:ea typeface="Calibri" panose="020F0502020204030204" pitchFamily="34" charset="0"/>
                <a:cs typeface="Times New Roman" panose="02020603050405020304" pitchFamily="18" charset="0"/>
              </a:rPr>
              <a:t>a</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Detected Wi-Fi Networks with Security &amp; Signal Details</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Box 78">
            <a:extLst>
              <a:ext uri="{FF2B5EF4-FFF2-40B4-BE49-F238E27FC236}">
                <a16:creationId xmlns:a16="http://schemas.microsoft.com/office/drawing/2014/main" id="{204E4297-2BB1-47E1-81E0-F6860DE95B3C}"/>
              </a:ext>
            </a:extLst>
          </p:cNvPr>
          <p:cNvSpPr txBox="1"/>
          <p:nvPr/>
        </p:nvSpPr>
        <p:spPr>
          <a:xfrm>
            <a:off x="29473369" y="18364200"/>
            <a:ext cx="2606831" cy="777777"/>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Fig.4(</a:t>
            </a:r>
            <a:r>
              <a:rPr lang="en-US" sz="2000" dirty="0">
                <a:solidFill>
                  <a:srgbClr val="000000"/>
                </a:solidFill>
                <a:ea typeface="Calibri" panose="020F0502020204030204" pitchFamily="34" charset="0"/>
                <a:cs typeface="Times New Roman" panose="02020603050405020304" pitchFamily="18" charset="0"/>
              </a:rPr>
              <a:t>c</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a typeface="Calibri" panose="020F0502020204030204" pitchFamily="34" charset="0"/>
                <a:cs typeface="Times New Roman" panose="02020603050405020304" pitchFamily="18" charset="0"/>
              </a:rPr>
              <a:t>Bluetooth Logger </a:t>
            </a:r>
            <a:r>
              <a:rPr lang="en-US" sz="2000" dirty="0" err="1">
                <a:solidFill>
                  <a:srgbClr val="000000"/>
                </a:solidFill>
                <a:ea typeface="Calibri" panose="020F0502020204030204" pitchFamily="34" charset="0"/>
                <a:cs typeface="Times New Roman" panose="02020603050405020304" pitchFamily="18" charset="0"/>
              </a:rPr>
              <a:t>Initialisation</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0" name="TextBox 79">
            <a:extLst>
              <a:ext uri="{FF2B5EF4-FFF2-40B4-BE49-F238E27FC236}">
                <a16:creationId xmlns:a16="http://schemas.microsoft.com/office/drawing/2014/main" id="{012045EA-83F3-43B9-B5E7-2273E9990E02}"/>
              </a:ext>
            </a:extLst>
          </p:cNvPr>
          <p:cNvSpPr txBox="1"/>
          <p:nvPr/>
        </p:nvSpPr>
        <p:spPr>
          <a:xfrm>
            <a:off x="26398503" y="24231600"/>
            <a:ext cx="2557497" cy="1131720"/>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Fig.5(</a:t>
            </a:r>
            <a:r>
              <a:rPr lang="en-US" sz="2000" dirty="0">
                <a:solidFill>
                  <a:srgbClr val="000000"/>
                </a:solidFill>
                <a:ea typeface="Calibri" panose="020F0502020204030204" pitchFamily="34" charset="0"/>
                <a:cs typeface="Times New Roman" panose="02020603050405020304" pitchFamily="18" charset="0"/>
              </a:rPr>
              <a:t>b</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a typeface="Calibri" panose="020F0502020204030204" pitchFamily="34" charset="0"/>
                <a:cs typeface="Times New Roman" panose="02020603050405020304" pitchFamily="18" charset="0"/>
              </a:rPr>
              <a:t>SDR Scan Interface – Frequency Range Selection</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6" name="TextBox 85">
            <a:extLst>
              <a:ext uri="{FF2B5EF4-FFF2-40B4-BE49-F238E27FC236}">
                <a16:creationId xmlns:a16="http://schemas.microsoft.com/office/drawing/2014/main" id="{44E44226-9A86-8212-368E-C0823AA91A22}"/>
              </a:ext>
            </a:extLst>
          </p:cNvPr>
          <p:cNvSpPr txBox="1"/>
          <p:nvPr/>
        </p:nvSpPr>
        <p:spPr>
          <a:xfrm>
            <a:off x="22783800" y="12649200"/>
            <a:ext cx="2885832" cy="1131720"/>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Fig.3(a). </a:t>
            </a:r>
            <a:r>
              <a:rPr lang="en-US" sz="2000" dirty="0" err="1">
                <a:solidFill>
                  <a:srgbClr val="000000"/>
                </a:solidFill>
                <a:ea typeface="Calibri" panose="020F0502020204030204" pitchFamily="34" charset="0"/>
                <a:cs typeface="Times New Roman" panose="02020603050405020304" pitchFamily="18" charset="0"/>
              </a:rPr>
              <a:t>RasFlipper</a:t>
            </a:r>
            <a:r>
              <a:rPr lang="en-US" sz="2000" dirty="0">
                <a:solidFill>
                  <a:srgbClr val="000000"/>
                </a:solidFill>
                <a:ea typeface="Calibri" panose="020F0502020204030204" pitchFamily="34" charset="0"/>
                <a:cs typeface="Times New Roman" panose="02020603050405020304" pitchFamily="18" charset="0"/>
              </a:rPr>
              <a:t> </a:t>
            </a:r>
            <a:r>
              <a:rPr lang="en-US" sz="2000" dirty="0" err="1">
                <a:solidFill>
                  <a:srgbClr val="000000"/>
                </a:solidFill>
                <a:ea typeface="Calibri" panose="020F0502020204030204" pitchFamily="34" charset="0"/>
                <a:cs typeface="Times New Roman" panose="02020603050405020304" pitchFamily="18" charset="0"/>
              </a:rPr>
              <a:t>Initialisation</a:t>
            </a:r>
            <a:r>
              <a:rPr lang="en-US" sz="2000" dirty="0">
                <a:solidFill>
                  <a:srgbClr val="000000"/>
                </a:solidFill>
                <a:ea typeface="Calibri" panose="020F0502020204030204" pitchFamily="34" charset="0"/>
                <a:cs typeface="Times New Roman" panose="02020603050405020304" pitchFamily="18" charset="0"/>
              </a:rPr>
              <a:t> Command Execution</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7" name="TextBox 86">
            <a:extLst>
              <a:ext uri="{FF2B5EF4-FFF2-40B4-BE49-F238E27FC236}">
                <a16:creationId xmlns:a16="http://schemas.microsoft.com/office/drawing/2014/main" id="{F4D1D420-3D24-5D47-A04D-F39CCEB4F8C4}"/>
              </a:ext>
            </a:extLst>
          </p:cNvPr>
          <p:cNvSpPr txBox="1"/>
          <p:nvPr/>
        </p:nvSpPr>
        <p:spPr>
          <a:xfrm>
            <a:off x="26235533" y="12660480"/>
            <a:ext cx="2949067" cy="1131720"/>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Fig.3(b).Main Interface – RF &amp; Network Recon Suit Menu</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8" name="TextBox 87">
            <a:extLst>
              <a:ext uri="{FF2B5EF4-FFF2-40B4-BE49-F238E27FC236}">
                <a16:creationId xmlns:a16="http://schemas.microsoft.com/office/drawing/2014/main" id="{4E181694-013B-2DB2-106C-661642F9D9E5}"/>
              </a:ext>
            </a:extLst>
          </p:cNvPr>
          <p:cNvSpPr txBox="1"/>
          <p:nvPr/>
        </p:nvSpPr>
        <p:spPr>
          <a:xfrm>
            <a:off x="29641800" y="12573000"/>
            <a:ext cx="2610351" cy="1131720"/>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Fig.3(c). Menu Selection – </a:t>
            </a:r>
            <a:r>
              <a:rPr lang="en-US" sz="2000" dirty="0">
                <a:solidFill>
                  <a:srgbClr val="000000"/>
                </a:solidFill>
                <a:ea typeface="Calibri" panose="020F0502020204030204" pitchFamily="34" charset="0"/>
                <a:cs typeface="Times New Roman" panose="02020603050405020304" pitchFamily="18" charset="0"/>
              </a:rPr>
              <a:t>Wi-Fi Scanner Module</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3" name="TextBox 92">
            <a:extLst>
              <a:ext uri="{FF2B5EF4-FFF2-40B4-BE49-F238E27FC236}">
                <a16:creationId xmlns:a16="http://schemas.microsoft.com/office/drawing/2014/main" id="{04F727B4-7896-DA55-B04F-6A58A5F1A75C}"/>
              </a:ext>
            </a:extLst>
          </p:cNvPr>
          <p:cNvSpPr txBox="1"/>
          <p:nvPr/>
        </p:nvSpPr>
        <p:spPr>
          <a:xfrm>
            <a:off x="17896873" y="20424251"/>
            <a:ext cx="3889961" cy="777777"/>
          </a:xfrm>
          <a:prstGeom prst="rect">
            <a:avLst/>
          </a:prstGeom>
          <a:noFill/>
        </p:spPr>
        <p:txBody>
          <a:bodyPr wrap="square">
            <a:spAutoFit/>
          </a:bodyPr>
          <a:lstStyle/>
          <a:p>
            <a:pPr algn="ctr">
              <a:lnSpc>
                <a:spcPct val="115000"/>
              </a:lnSpc>
              <a:spcAft>
                <a:spcPts val="1000"/>
              </a:spcAft>
              <a:tabLst>
                <a:tab pos="85725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Fig.1(b). Block Diagram of Dashboard </a:t>
            </a:r>
            <a:endParaRPr lang="en-IN" sz="1800" dirty="0">
              <a:solidFill>
                <a:srgbClr val="00000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0" name="TextBox 69">
            <a:extLst>
              <a:ext uri="{FF2B5EF4-FFF2-40B4-BE49-F238E27FC236}">
                <a16:creationId xmlns:a16="http://schemas.microsoft.com/office/drawing/2014/main" id="{2E8B509F-C36E-18BF-0576-2E620F0E0EC9}"/>
              </a:ext>
            </a:extLst>
          </p:cNvPr>
          <p:cNvSpPr txBox="1"/>
          <p:nvPr/>
        </p:nvSpPr>
        <p:spPr>
          <a:xfrm>
            <a:off x="3581400" y="5082082"/>
            <a:ext cx="40157400" cy="769441"/>
          </a:xfrm>
          <a:prstGeom prst="rect">
            <a:avLst/>
          </a:prstGeom>
          <a:noFill/>
        </p:spPr>
        <p:txBody>
          <a:bodyPr wrap="square">
            <a:spAutoFit/>
          </a:bodyPr>
          <a:lstStyle/>
          <a:p>
            <a:r>
              <a:rPr lang="en-US" sz="4400" dirty="0">
                <a:solidFill>
                  <a:srgbClr val="1482A5"/>
                </a:solidFill>
                <a:latin typeface="Montserrat Light" panose="00000400000000000000" pitchFamily="50" charset="0"/>
                <a:hlinkClick r:id="rId8"/>
              </a:rPr>
              <a:t>r22ei044@reva.edu.in</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8"/>
              </a:rPr>
              <a:t>r22ei032@reva.edu.in</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8"/>
              </a:rPr>
              <a:t>r22ei031@reva.edu.in</a:t>
            </a:r>
            <a:r>
              <a:rPr lang="en-US" sz="4400" dirty="0">
                <a:solidFill>
                  <a:srgbClr val="1482A5"/>
                </a:solidFill>
                <a:latin typeface="Montserrat Light" panose="00000400000000000000" pitchFamily="50" charset="0"/>
              </a:rPr>
              <a:t>                     </a:t>
            </a:r>
            <a:r>
              <a:rPr lang="en-US" sz="4400" dirty="0">
                <a:solidFill>
                  <a:srgbClr val="1482A5"/>
                </a:solidFill>
                <a:latin typeface="Montserrat Light" panose="00000400000000000000" pitchFamily="50" charset="0"/>
                <a:hlinkClick r:id="rId9"/>
              </a:rPr>
              <a:t>r22ei058@reva.edu.in</a:t>
            </a:r>
            <a:r>
              <a:rPr lang="en-US" sz="4400" dirty="0">
                <a:solidFill>
                  <a:srgbClr val="1482A5"/>
                </a:solidFill>
                <a:latin typeface="Montserrat Light" panose="00000400000000000000" pitchFamily="50" charset="0"/>
              </a:rPr>
              <a:t> </a:t>
            </a:r>
            <a:endParaRPr lang="en-IN" sz="4400" dirty="0"/>
          </a:p>
        </p:txBody>
      </p:sp>
      <p:pic>
        <p:nvPicPr>
          <p:cNvPr id="3" name="Picture 2">
            <a:extLst>
              <a:ext uri="{FF2B5EF4-FFF2-40B4-BE49-F238E27FC236}">
                <a16:creationId xmlns:a16="http://schemas.microsoft.com/office/drawing/2014/main" id="{7271F8F8-24BD-4336-B375-ABB56B479D7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702931" y="905354"/>
            <a:ext cx="1943100" cy="1828800"/>
          </a:xfrm>
          <a:prstGeom prst="rect">
            <a:avLst/>
          </a:prstGeom>
        </p:spPr>
      </p:pic>
      <p:pic>
        <p:nvPicPr>
          <p:cNvPr id="5" name="Picture 4">
            <a:extLst>
              <a:ext uri="{FF2B5EF4-FFF2-40B4-BE49-F238E27FC236}">
                <a16:creationId xmlns:a16="http://schemas.microsoft.com/office/drawing/2014/main" id="{DA01550B-C7D8-48F4-BEAD-AB35299F746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7943687" y="905354"/>
            <a:ext cx="1943100" cy="1828800"/>
          </a:xfrm>
          <a:prstGeom prst="rect">
            <a:avLst/>
          </a:prstGeom>
        </p:spPr>
      </p:pic>
      <p:pic>
        <p:nvPicPr>
          <p:cNvPr id="4" name="Picture 3">
            <a:extLst>
              <a:ext uri="{FF2B5EF4-FFF2-40B4-BE49-F238E27FC236}">
                <a16:creationId xmlns:a16="http://schemas.microsoft.com/office/drawing/2014/main" id="{64FA8C0C-9393-FE90-7734-805F47CBEC9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485417" y="16675607"/>
            <a:ext cx="5943600" cy="3962400"/>
          </a:xfrm>
          <a:prstGeom prst="rect">
            <a:avLst/>
          </a:prstGeom>
        </p:spPr>
      </p:pic>
      <p:pic>
        <p:nvPicPr>
          <p:cNvPr id="9" name="Picture 8">
            <a:extLst>
              <a:ext uri="{FF2B5EF4-FFF2-40B4-BE49-F238E27FC236}">
                <a16:creationId xmlns:a16="http://schemas.microsoft.com/office/drawing/2014/main" id="{911A4999-73BC-B40E-8112-3C49FAFAF35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242640" y="16656401"/>
            <a:ext cx="3061413" cy="3825402"/>
          </a:xfrm>
          <a:prstGeom prst="rect">
            <a:avLst/>
          </a:prstGeom>
        </p:spPr>
      </p:pic>
      <p:pic>
        <p:nvPicPr>
          <p:cNvPr id="12" name="Picture 11">
            <a:extLst>
              <a:ext uri="{FF2B5EF4-FFF2-40B4-BE49-F238E27FC236}">
                <a16:creationId xmlns:a16="http://schemas.microsoft.com/office/drawing/2014/main" id="{7C3428C4-C428-0121-4EB9-415738CF64D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935745" y="22659258"/>
            <a:ext cx="5721828" cy="8582742"/>
          </a:xfrm>
          <a:prstGeom prst="rect">
            <a:avLst/>
          </a:prstGeom>
        </p:spPr>
      </p:pic>
      <p:pic>
        <p:nvPicPr>
          <p:cNvPr id="26" name="Picture 25">
            <a:extLst>
              <a:ext uri="{FF2B5EF4-FFF2-40B4-BE49-F238E27FC236}">
                <a16:creationId xmlns:a16="http://schemas.microsoft.com/office/drawing/2014/main" id="{BB82E0CD-138E-9060-CBFE-A35DB0C8239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2939541" y="10210800"/>
            <a:ext cx="3044659" cy="2045569"/>
          </a:xfrm>
          <a:prstGeom prst="rect">
            <a:avLst/>
          </a:prstGeom>
        </p:spPr>
      </p:pic>
      <p:pic>
        <p:nvPicPr>
          <p:cNvPr id="30" name="Picture 29">
            <a:extLst>
              <a:ext uri="{FF2B5EF4-FFF2-40B4-BE49-F238E27FC236}">
                <a16:creationId xmlns:a16="http://schemas.microsoft.com/office/drawing/2014/main" id="{519975F6-259C-9631-1A60-17961C4EBE3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6354768" y="10157215"/>
            <a:ext cx="2969010" cy="1922085"/>
          </a:xfrm>
          <a:prstGeom prst="rect">
            <a:avLst/>
          </a:prstGeom>
        </p:spPr>
      </p:pic>
      <p:pic>
        <p:nvPicPr>
          <p:cNvPr id="32" name="Picture 31">
            <a:extLst>
              <a:ext uri="{FF2B5EF4-FFF2-40B4-BE49-F238E27FC236}">
                <a16:creationId xmlns:a16="http://schemas.microsoft.com/office/drawing/2014/main" id="{7F2F81C0-8733-CDB2-6164-6A24FFFC309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9647174" y="10192507"/>
            <a:ext cx="2727375" cy="1869013"/>
          </a:xfrm>
          <a:prstGeom prst="rect">
            <a:avLst/>
          </a:prstGeom>
        </p:spPr>
      </p:pic>
      <p:pic>
        <p:nvPicPr>
          <p:cNvPr id="34" name="Picture 33">
            <a:extLst>
              <a:ext uri="{FF2B5EF4-FFF2-40B4-BE49-F238E27FC236}">
                <a16:creationId xmlns:a16="http://schemas.microsoft.com/office/drawing/2014/main" id="{4E246996-1A1D-C2BD-A235-8CFD47E6862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2554068" y="15528976"/>
            <a:ext cx="2982182" cy="2378024"/>
          </a:xfrm>
          <a:prstGeom prst="rect">
            <a:avLst/>
          </a:prstGeom>
        </p:spPr>
      </p:pic>
      <p:pic>
        <p:nvPicPr>
          <p:cNvPr id="36" name="Picture 35">
            <a:extLst>
              <a:ext uri="{FF2B5EF4-FFF2-40B4-BE49-F238E27FC236}">
                <a16:creationId xmlns:a16="http://schemas.microsoft.com/office/drawing/2014/main" id="{A86931A1-226A-3985-E6E5-2090CFC3598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5656784" y="15659868"/>
            <a:ext cx="3574708" cy="2208707"/>
          </a:xfrm>
          <a:prstGeom prst="rect">
            <a:avLst/>
          </a:prstGeom>
        </p:spPr>
      </p:pic>
      <p:pic>
        <p:nvPicPr>
          <p:cNvPr id="38" name="Picture 37">
            <a:extLst>
              <a:ext uri="{FF2B5EF4-FFF2-40B4-BE49-F238E27FC236}">
                <a16:creationId xmlns:a16="http://schemas.microsoft.com/office/drawing/2014/main" id="{5DCB5450-F14E-F4C8-2B94-089EDD2FE59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9398302" y="15506511"/>
            <a:ext cx="3061413" cy="2378024"/>
          </a:xfrm>
          <a:prstGeom prst="rect">
            <a:avLst/>
          </a:prstGeom>
        </p:spPr>
      </p:pic>
      <p:pic>
        <p:nvPicPr>
          <p:cNvPr id="40" name="Picture 39">
            <a:extLst>
              <a:ext uri="{FF2B5EF4-FFF2-40B4-BE49-F238E27FC236}">
                <a16:creationId xmlns:a16="http://schemas.microsoft.com/office/drawing/2014/main" id="{49E51042-39CF-D090-58FE-599F2134CB1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2577666" y="21031200"/>
            <a:ext cx="3406534" cy="2758266"/>
          </a:xfrm>
          <a:prstGeom prst="rect">
            <a:avLst/>
          </a:prstGeom>
        </p:spPr>
      </p:pic>
      <p:pic>
        <p:nvPicPr>
          <p:cNvPr id="45" name="Picture 44">
            <a:extLst>
              <a:ext uri="{FF2B5EF4-FFF2-40B4-BE49-F238E27FC236}">
                <a16:creationId xmlns:a16="http://schemas.microsoft.com/office/drawing/2014/main" id="{F5DE96DD-E17F-656E-DEAC-8D4CC4C12CB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026678" y="21031200"/>
            <a:ext cx="3111930" cy="2668284"/>
          </a:xfrm>
          <a:prstGeom prst="rect">
            <a:avLst/>
          </a:prstGeom>
        </p:spPr>
      </p:pic>
      <p:pic>
        <p:nvPicPr>
          <p:cNvPr id="94" name="Picture 93">
            <a:extLst>
              <a:ext uri="{FF2B5EF4-FFF2-40B4-BE49-F238E27FC236}">
                <a16:creationId xmlns:a16="http://schemas.microsoft.com/office/drawing/2014/main" id="{062C6333-E385-3B2F-E969-58FA84B51C2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rot="16200000">
            <a:off x="28450452" y="25187296"/>
            <a:ext cx="2668283" cy="4743613"/>
          </a:xfrm>
          <a:prstGeom prst="rect">
            <a:avLst/>
          </a:prstGeom>
        </p:spPr>
      </p:pic>
      <p:sp>
        <p:nvSpPr>
          <p:cNvPr id="95" name="TextBox 94">
            <a:extLst>
              <a:ext uri="{FF2B5EF4-FFF2-40B4-BE49-F238E27FC236}">
                <a16:creationId xmlns:a16="http://schemas.microsoft.com/office/drawing/2014/main" id="{A5915352-CB2F-11A7-6799-31DCB0F78BBC}"/>
              </a:ext>
            </a:extLst>
          </p:cNvPr>
          <p:cNvSpPr txBox="1"/>
          <p:nvPr/>
        </p:nvSpPr>
        <p:spPr>
          <a:xfrm>
            <a:off x="23816559" y="29450832"/>
            <a:ext cx="3063747" cy="400110"/>
          </a:xfrm>
          <a:prstGeom prst="rect">
            <a:avLst/>
          </a:prstGeom>
          <a:noFill/>
        </p:spPr>
        <p:txBody>
          <a:bodyPr wrap="square" rtlCol="0">
            <a:spAutoFit/>
          </a:bodyPr>
          <a:lstStyle/>
          <a:p>
            <a:r>
              <a:rPr lang="en-US" sz="2000" dirty="0"/>
              <a:t>Fig.6(a). SDR Scan Results </a:t>
            </a:r>
            <a:endParaRPr lang="en-IN" sz="2000" dirty="0"/>
          </a:p>
        </p:txBody>
      </p:sp>
      <p:pic>
        <p:nvPicPr>
          <p:cNvPr id="96" name="Picture 95">
            <a:extLst>
              <a:ext uri="{FF2B5EF4-FFF2-40B4-BE49-F238E27FC236}">
                <a16:creationId xmlns:a16="http://schemas.microsoft.com/office/drawing/2014/main" id="{75435D54-D143-E857-0572-FB8EE24FC87A}"/>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3089007" y="26393721"/>
            <a:ext cx="4095179" cy="2750714"/>
          </a:xfrm>
          <a:prstGeom prst="rect">
            <a:avLst/>
          </a:prstGeom>
        </p:spPr>
      </p:pic>
      <p:pic>
        <p:nvPicPr>
          <p:cNvPr id="98" name="Picture 97">
            <a:extLst>
              <a:ext uri="{FF2B5EF4-FFF2-40B4-BE49-F238E27FC236}">
                <a16:creationId xmlns:a16="http://schemas.microsoft.com/office/drawing/2014/main" id="{544EC796-DCCB-1FA2-88D0-078851E8193A}"/>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9231492" y="21041668"/>
            <a:ext cx="3264350" cy="2587065"/>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6.09.30"/>
  <p:tag name="AS_TITLE" val="Aspose.Slides for .NET 4.0"/>
  <p:tag name="AS_VERSION" val="16.9.0.0"/>
  <p:tag name="MAKESIGNSTEMPLATE" val="persuadingsapphire|09-2018"/>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4423</TotalTime>
  <Words>1754</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Libre Baskerville</vt:lpstr>
      <vt:lpstr>Times New Roman</vt:lpstr>
      <vt:lpstr>Calibri</vt:lpstr>
      <vt:lpstr>Montserrat Light</vt:lpstr>
      <vt:lpstr>Arial</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Aishwarya Menon</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Deekshith V</cp:lastModifiedBy>
  <cp:revision>387</cp:revision>
  <cp:lastPrinted>2006-11-15T16:04:57Z</cp:lastPrinted>
  <dcterms:modified xsi:type="dcterms:W3CDTF">2026-04-24T18:33:36Z</dcterms:modified>
  <cp:category>templates for scientific poster</cp:category>
</cp:coreProperties>
</file>