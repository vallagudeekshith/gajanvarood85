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4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5.xml" ContentType="application/vnd.openxmlformats-officedocument.theme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6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7.xml" ContentType="application/vnd.openxmlformats-officedocument.theme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8.xml" ContentType="application/vnd.openxmlformats-officedocument.theme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9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4"/>
    <p:sldMasterId id="2147483953" r:id="rId5"/>
    <p:sldMasterId id="2147483954" r:id="rId6"/>
    <p:sldMasterId id="2147483961" r:id="rId7"/>
    <p:sldMasterId id="2147483963" r:id="rId8"/>
    <p:sldMasterId id="2147483956" r:id="rId9"/>
    <p:sldMasterId id="2147483958" r:id="rId10"/>
    <p:sldMasterId id="2147483955" r:id="rId11"/>
    <p:sldMasterId id="2147483973" r:id="rId12"/>
  </p:sldMasterIdLst>
  <p:notesMasterIdLst>
    <p:notesMasterId r:id="rId31"/>
  </p:notesMasterIdLst>
  <p:handoutMasterIdLst>
    <p:handoutMasterId r:id="rId32"/>
  </p:handoutMasterIdLst>
  <p:sldIdLst>
    <p:sldId id="572" r:id="rId13"/>
    <p:sldId id="577" r:id="rId14"/>
    <p:sldId id="575" r:id="rId15"/>
    <p:sldId id="579" r:id="rId16"/>
    <p:sldId id="603" r:id="rId17"/>
    <p:sldId id="604" r:id="rId18"/>
    <p:sldId id="605" r:id="rId19"/>
    <p:sldId id="606" r:id="rId20"/>
    <p:sldId id="607" r:id="rId21"/>
    <p:sldId id="608" r:id="rId22"/>
    <p:sldId id="615" r:id="rId23"/>
    <p:sldId id="612" r:id="rId24"/>
    <p:sldId id="609" r:id="rId25"/>
    <p:sldId id="614" r:id="rId26"/>
    <p:sldId id="610" r:id="rId27"/>
    <p:sldId id="611" r:id="rId28"/>
    <p:sldId id="613" r:id="rId29"/>
    <p:sldId id="602" r:id="rId30"/>
  </p:sldIdLst>
  <p:sldSz cx="12192000" cy="6858000"/>
  <p:notesSz cx="6807200" cy="9939338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userDrawn="1">
          <p15:clr>
            <a:srgbClr val="A4A3A4"/>
          </p15:clr>
        </p15:guide>
        <p15:guide id="4" pos="76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0">
          <p15:clr>
            <a:srgbClr val="A4A3A4"/>
          </p15:clr>
        </p15:guide>
        <p15:guide id="2" pos="2144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kiko Takemi" initials="AT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A5A5A5"/>
    <a:srgbClr val="F9950F"/>
    <a:srgbClr val="E7E6E6"/>
    <a:srgbClr val="48367D"/>
    <a:srgbClr val="4C5252"/>
    <a:srgbClr val="EFCAAF"/>
    <a:srgbClr val="958FBC"/>
    <a:srgbClr val="EBE4A7"/>
    <a:srgbClr val="C9D5B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6391"/>
  </p:normalViewPr>
  <p:slideViewPr>
    <p:cSldViewPr>
      <p:cViewPr varScale="1">
        <p:scale>
          <a:sx n="82" d="100"/>
          <a:sy n="82" d="100"/>
        </p:scale>
        <p:origin x="720" y="72"/>
      </p:cViewPr>
      <p:guideLst>
        <p:guide orient="horz" pos="2160"/>
        <p:guide pos="3840"/>
        <p:guide orient="horz"/>
        <p:guide pos="767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75" d="100"/>
          <a:sy n="75" d="100"/>
        </p:scale>
        <p:origin x="-4068" y="-114"/>
      </p:cViewPr>
      <p:guideLst>
        <p:guide orient="horz" pos="3130"/>
        <p:guide pos="214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slide" Target="slides/slide14.xml"/><Relationship Id="rId21" Type="http://schemas.openxmlformats.org/officeDocument/2006/relationships/slide" Target="slides/slide9.xml"/><Relationship Id="rId34" Type="http://schemas.openxmlformats.org/officeDocument/2006/relationships/presProps" Target="presProps.xml"/><Relationship Id="rId7" Type="http://schemas.openxmlformats.org/officeDocument/2006/relationships/slideMaster" Target="slideMasters/slideMaster4.xml"/><Relationship Id="rId12" Type="http://schemas.openxmlformats.org/officeDocument/2006/relationships/slideMaster" Target="slideMasters/slideMaster9.xml"/><Relationship Id="rId17" Type="http://schemas.openxmlformats.org/officeDocument/2006/relationships/slide" Target="slides/slide5.xml"/><Relationship Id="rId25" Type="http://schemas.openxmlformats.org/officeDocument/2006/relationships/slide" Target="slides/slide13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29" Type="http://schemas.openxmlformats.org/officeDocument/2006/relationships/slide" Target="slides/slide17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Master" Target="slideMasters/slideMaster8.xml"/><Relationship Id="rId24" Type="http://schemas.openxmlformats.org/officeDocument/2006/relationships/slide" Target="slides/slide12.xml"/><Relationship Id="rId32" Type="http://schemas.openxmlformats.org/officeDocument/2006/relationships/handoutMaster" Target="handoutMasters/handoutMaster1.xml"/><Relationship Id="rId37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28" Type="http://schemas.openxmlformats.org/officeDocument/2006/relationships/slide" Target="slides/slide16.xml"/><Relationship Id="rId36" Type="http://schemas.openxmlformats.org/officeDocument/2006/relationships/theme" Target="theme/theme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7.xml"/><Relationship Id="rId31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slide" Target="slides/slide15.xml"/><Relationship Id="rId30" Type="http://schemas.openxmlformats.org/officeDocument/2006/relationships/slide" Target="slides/slide18.xml"/><Relationship Id="rId35" Type="http://schemas.openxmlformats.org/officeDocument/2006/relationships/viewProps" Target="viewProps.xml"/><Relationship Id="rId8" Type="http://schemas.openxmlformats.org/officeDocument/2006/relationships/slideMaster" Target="slideMasters/slideMaster5.xml"/><Relationship Id="rId3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l">
              <a:defRPr sz="1200"/>
            </a:lvl1pPr>
          </a:lstStyle>
          <a:p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r">
              <a:defRPr sz="1200"/>
            </a:lvl1pPr>
          </a:lstStyle>
          <a:p>
            <a:fld id="{85D701EE-1FBA-4307-A5A0-FAD659DC6E39}" type="datetimeFigureOut">
              <a:rPr lang="en-NZ" smtClean="0"/>
              <a:pPr/>
              <a:t>22/05/2026</a:t>
            </a:fld>
            <a:endParaRPr lang="en-NZ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l">
              <a:defRPr sz="1200"/>
            </a:lvl1pPr>
          </a:lstStyle>
          <a:p>
            <a:endParaRPr lang="en-NZ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5839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r">
              <a:defRPr sz="1200"/>
            </a:lvl1pPr>
          </a:lstStyle>
          <a:p>
            <a:fld id="{97D3D0BD-DB2D-4CFB-B804-653564142846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095328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l">
              <a:defRPr sz="1200" b="0" i="0">
                <a:latin typeface="+mn-lt"/>
              </a:defRPr>
            </a:lvl1pPr>
          </a:lstStyle>
          <a:p>
            <a:endParaRPr lang="en-NZ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/>
          <a:lstStyle>
            <a:lvl1pPr algn="r">
              <a:defRPr sz="1200" b="0" i="0">
                <a:latin typeface="+mn-lt"/>
              </a:defRPr>
            </a:lvl1pPr>
          </a:lstStyle>
          <a:p>
            <a:fld id="{72A1673E-E3F0-41EB-8C5F-8EC9A5FDE63C}" type="datetimeFigureOut">
              <a:rPr lang="en-NZ" smtClean="0"/>
              <a:pPr/>
              <a:t>22/05/2026</a:t>
            </a:fld>
            <a:endParaRPr lang="en-NZ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3013"/>
            <a:ext cx="5964238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74" tIns="45737" rIns="91474" bIns="45737" rtlCol="0" anchor="ctr"/>
          <a:lstStyle/>
          <a:p>
            <a:endParaRPr lang="en-NZ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0721" y="4783309"/>
            <a:ext cx="5445760" cy="3913614"/>
          </a:xfrm>
          <a:prstGeom prst="rect">
            <a:avLst/>
          </a:prstGeom>
        </p:spPr>
        <p:txBody>
          <a:bodyPr vert="horz" lIns="91474" tIns="45737" rIns="91474" bIns="45737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NZ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l">
              <a:defRPr sz="1200" b="0" i="0">
                <a:latin typeface="+mn-lt"/>
              </a:defRPr>
            </a:lvl1pPr>
          </a:lstStyle>
          <a:p>
            <a:endParaRPr lang="en-NZ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8693"/>
          </a:xfrm>
          <a:prstGeom prst="rect">
            <a:avLst/>
          </a:prstGeom>
        </p:spPr>
        <p:txBody>
          <a:bodyPr vert="horz" lIns="91474" tIns="45737" rIns="91474" bIns="45737" rtlCol="0" anchor="b"/>
          <a:lstStyle>
            <a:lvl1pPr algn="r">
              <a:defRPr sz="1200" b="0" i="0">
                <a:latin typeface="+mn-lt"/>
              </a:defRPr>
            </a:lvl1pPr>
          </a:lstStyle>
          <a:p>
            <a:fld id="{F4089372-A661-494F-90C4-94E25994D307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13860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5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5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7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7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8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8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9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9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9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478050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C:\Users\Admin\Downloads\ilovepdf_pages-to-jpg (1)\RU_PPT Template-White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Rectangle 10"/>
          <p:cNvSpPr/>
          <p:nvPr userDrawn="1"/>
        </p:nvSpPr>
        <p:spPr>
          <a:xfrm>
            <a:off x="685800" y="58801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 userDrawn="1"/>
        </p:nvSpPr>
        <p:spPr>
          <a:xfrm>
            <a:off x="8769350" y="5486400"/>
            <a:ext cx="3422650" cy="977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5AFE99A1-F019-42EF-A6DD-FBA9CE0E5FB1}"/>
              </a:ext>
            </a:extLst>
          </p:cNvPr>
          <p:cNvGrpSpPr/>
          <p:nvPr userDrawn="1"/>
        </p:nvGrpSpPr>
        <p:grpSpPr>
          <a:xfrm>
            <a:off x="9220200" y="5410200"/>
            <a:ext cx="2601503" cy="1082742"/>
            <a:chOff x="10616154" y="97913"/>
            <a:chExt cx="3619726" cy="1349912"/>
          </a:xfrm>
        </p:grpSpPr>
        <p:pic>
          <p:nvPicPr>
            <p:cNvPr id="14" name="Picture 2" descr="NIRF — SAVEETHA SCHOOL OF MANAGEMENT">
              <a:extLst>
                <a:ext uri="{FF2B5EF4-FFF2-40B4-BE49-F238E27FC236}">
                  <a16:creationId xmlns:a16="http://schemas.microsoft.com/office/drawing/2014/main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Bharath University - Top University In India">
              <a:extLst>
                <a:ext uri="{FF2B5EF4-FFF2-40B4-BE49-F238E27FC236}">
                  <a16:creationId xmlns:a16="http://schemas.microsoft.com/office/drawing/2014/main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6" descr="CREDISAPP for Ratings - Eloit">
              <a:extLst>
                <a:ext uri="{FF2B5EF4-FFF2-40B4-BE49-F238E27FC236}">
                  <a16:creationId xmlns:a16="http://schemas.microsoft.com/office/drawing/2014/main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7" name="Picture 8" descr="MHRD | Innovation Cell - Home">
              <a:extLst>
                <a:ext uri="{FF2B5EF4-FFF2-40B4-BE49-F238E27FC236}">
                  <a16:creationId xmlns:a16="http://schemas.microsoft.com/office/drawing/2014/main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8" name="Picture 10" descr="Institution's Innovation Council | MHRD">
              <a:extLst>
                <a:ext uri="{FF2B5EF4-FFF2-40B4-BE49-F238E27FC236}">
                  <a16:creationId xmlns:a16="http://schemas.microsoft.com/office/drawing/2014/main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15187634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5AFE99A1-F019-42EF-A6DD-FBA9CE0E5FB1}"/>
              </a:ext>
            </a:extLst>
          </p:cNvPr>
          <p:cNvGrpSpPr/>
          <p:nvPr userDrawn="1"/>
        </p:nvGrpSpPr>
        <p:grpSpPr>
          <a:xfrm>
            <a:off x="9220200" y="304800"/>
            <a:ext cx="2601503" cy="1082742"/>
            <a:chOff x="10616154" y="97913"/>
            <a:chExt cx="3619726" cy="1349912"/>
          </a:xfrm>
        </p:grpSpPr>
        <p:pic>
          <p:nvPicPr>
            <p:cNvPr id="22" name="Picture 2" descr="NIRF — SAVEETHA SCHOOL OF MANAGEMENT">
              <a:extLst>
                <a:ext uri="{FF2B5EF4-FFF2-40B4-BE49-F238E27FC236}">
                  <a16:creationId xmlns:a16="http://schemas.microsoft.com/office/drawing/2014/main" id="{9B00A4D8-FB36-4B42-882E-EE775CC50F6E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517" t="4377" r="28922" b="7151"/>
            <a:stretch/>
          </p:blipFill>
          <p:spPr bwMode="auto">
            <a:xfrm>
              <a:off x="12122688" y="97913"/>
              <a:ext cx="843474" cy="59225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3" name="Picture 4" descr="Bharath University - Top University In India">
              <a:extLst>
                <a:ext uri="{FF2B5EF4-FFF2-40B4-BE49-F238E27FC236}">
                  <a16:creationId xmlns:a16="http://schemas.microsoft.com/office/drawing/2014/main" id="{8CF62A35-8903-4AEE-9045-1FA034AB8A0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737939" y="182966"/>
              <a:ext cx="1158298" cy="43088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6" descr="CREDISAPP for Ratings - Eloit">
              <a:extLst>
                <a:ext uri="{FF2B5EF4-FFF2-40B4-BE49-F238E27FC236}">
                  <a16:creationId xmlns:a16="http://schemas.microsoft.com/office/drawing/2014/main" id="{4EC4255E-9275-4645-A3F8-21419123E0ED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072901" y="114292"/>
              <a:ext cx="1155067" cy="57587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8" descr="MHRD | Innovation Cell - Home">
              <a:extLst>
                <a:ext uri="{FF2B5EF4-FFF2-40B4-BE49-F238E27FC236}">
                  <a16:creationId xmlns:a16="http://schemas.microsoft.com/office/drawing/2014/main" id="{E6BC1D26-C603-41F7-A77B-3E57CF81C4C7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616154" y="789734"/>
              <a:ext cx="1857797" cy="65809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6" name="Picture 10" descr="Institution's Innovation Council | MHRD">
              <a:extLst>
                <a:ext uri="{FF2B5EF4-FFF2-40B4-BE49-F238E27FC236}">
                  <a16:creationId xmlns:a16="http://schemas.microsoft.com/office/drawing/2014/main" id="{36AC505C-EAFA-4C95-8784-8D5ACB655BDA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 rotWithShape="1"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879" t="20721" r="8879" b="24346"/>
            <a:stretch/>
          </p:blipFill>
          <p:spPr bwMode="auto">
            <a:xfrm>
              <a:off x="12886182" y="774201"/>
              <a:ext cx="1349698" cy="6375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19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15187634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8421823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</p:spTree>
    <p:extLst>
      <p:ext uri="{BB962C8B-B14F-4D97-AF65-F5344CB8AC3E}">
        <p14:creationId xmlns:p14="http://schemas.microsoft.com/office/powerpoint/2010/main" val="28966536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C96D411-367F-DE44-B86F-24693F081E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3567D619-CB47-F041-985A-230E32AF28B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1058553" y="3124200"/>
            <a:ext cx="4580247" cy="1750095"/>
          </a:xfrm>
          <a:prstGeom prst="rect">
            <a:avLst/>
          </a:prstGeom>
        </p:spPr>
        <p:txBody>
          <a:bodyPr anchor="ctr"/>
          <a:lstStyle>
            <a:lvl1pPr>
              <a:defRPr sz="4000" spc="0" baseline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TITLE</a:t>
            </a:r>
            <a:br>
              <a:rPr lang="en-NZ" dirty="0"/>
            </a:br>
            <a:r>
              <a:rPr lang="en-NZ" dirty="0"/>
              <a:t>OF </a:t>
            </a:r>
            <a:br>
              <a:rPr lang="en-NZ" dirty="0"/>
            </a:br>
            <a:r>
              <a:rPr lang="en-NZ" dirty="0"/>
              <a:t>PRESENTATION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DD82E332-C6ED-164F-A8EB-880825F13C9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046572" y="5129788"/>
            <a:ext cx="6755716" cy="407987"/>
          </a:xfrm>
          <a:prstGeom prst="rect">
            <a:avLst/>
          </a:prstGeom>
        </p:spPr>
        <p:txBody>
          <a:bodyPr anchor="ctr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NZ" sz="2500" kern="1200" spc="400" baseline="0" dirty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NZ" dirty="0"/>
              <a:t>Department Name and Division</a:t>
            </a:r>
          </a:p>
        </p:txBody>
      </p:sp>
      <p:pic>
        <p:nvPicPr>
          <p:cNvPr id="16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4380" y="1857550"/>
            <a:ext cx="3581400" cy="997709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6435544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02052CF-F9E7-714A-BDAE-9BE0ECB4DA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023341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0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1559C6D-4317-AA46-BAB3-6CD813F0D97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5464016-775B-B140-8812-D9666C711A4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6"/>
            <a:ext cx="10801201" cy="432048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141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genda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EF680B5D-7167-924C-AF0A-D048ACEDB4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B8854B0-9314-934B-A796-5B8219D039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 (Two Columns)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92246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Agenda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41BD9FBF-4057-CE4A-95FF-A7E4437BE40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8F61B18F-41E7-EB43-A1A5-986763A09CC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168008" y="1773937"/>
            <a:ext cx="5112568" cy="4319360"/>
          </a:xfrm>
          <a:prstGeom prst="rect">
            <a:avLst/>
          </a:prstGeom>
        </p:spPr>
        <p:txBody>
          <a:bodyPr/>
          <a:lstStyle>
            <a:lvl1pPr marL="457200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700088" indent="-457200">
              <a:spcBef>
                <a:spcPts val="0"/>
              </a:spcBef>
              <a:spcAft>
                <a:spcPts val="1400"/>
              </a:spcAft>
              <a:buFont typeface="+mj-lt"/>
              <a:buAutoNum type="arabicPeriod"/>
              <a:tabLst/>
              <a:defRPr sz="240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593725" indent="0">
              <a:spcBef>
                <a:spcPts val="0"/>
              </a:spcBef>
              <a:spcAft>
                <a:spcPts val="1400"/>
              </a:spcAft>
              <a:buNone/>
              <a:tabLst/>
              <a:defRPr sz="2000">
                <a:solidFill>
                  <a:schemeClr val="bg1"/>
                </a:solidFill>
              </a:defRPr>
            </a:lvl3pPr>
            <a:lvl4pPr marL="890588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4pPr>
            <a:lvl5pPr marL="1093787" indent="0">
              <a:spcBef>
                <a:spcPts val="0"/>
              </a:spcBef>
              <a:spcAft>
                <a:spcPts val="1400"/>
              </a:spcAft>
              <a:buNone/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E3932FE3-F1D5-2245-8974-1F3F9EDF2F1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95400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tx1">
                    <a:lumMod val="50000"/>
                    <a:lumOff val="50000"/>
                  </a:schemeClr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Agenda (Two Columns)</a:t>
            </a:r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12413444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C:\Users\Admin\Downloads\ilovepdf_pages-to-jpg (4)\RU_PPT Template-Grey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92202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1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3" cstate="print"/>
          <a:srcRect r="76596" b="15988"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159170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C:\Users\Admin\Downloads\ilovepdf_pages-to-jpg (3)\RU_PPT Template-White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92202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4" name="Picture 3" descr="C:\Users\Admin\Downloads\1-05.png"/>
          <p:cNvPicPr>
            <a:picLocks noChangeAspect="1" noChangeArrowheads="1"/>
          </p:cNvPicPr>
          <p:nvPr userDrawn="1"/>
        </p:nvPicPr>
        <p:blipFill>
          <a:blip r:embed="rId3"/>
          <a:srcRect r="73063"/>
          <a:stretch>
            <a:fillRect/>
          </a:stretch>
        </p:blipFill>
        <p:spPr bwMode="auto">
          <a:xfrm>
            <a:off x="-54605" y="-381001"/>
            <a:ext cx="955557" cy="17111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3135946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8C57D2F1-AB6B-D646-B596-57C131E95FB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2514600" y="2363699"/>
            <a:ext cx="7772400" cy="1325563"/>
          </a:xfrm>
          <a:prstGeom prst="rect">
            <a:avLst/>
          </a:prstGeom>
        </p:spPr>
        <p:txBody>
          <a:bodyPr anchor="ctr"/>
          <a:lstStyle>
            <a:lvl1pPr>
              <a:defRPr sz="7800" b="0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TITLE PAGE</a:t>
            </a:r>
            <a:endParaRPr lang="en-NZ" dirty="0"/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DDAC6C2B-8407-D64F-820D-E7CF746EE15D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latin typeface="Nobel-Book" panose="02000503040000020004" pitchFamily="2" charset="0"/>
              </a:defRPr>
            </a:lvl1pPr>
          </a:lstStyle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1A0E79-2BC7-C74E-A6C5-1646C3E49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352" y="6384910"/>
            <a:ext cx="812480" cy="142503"/>
          </a:xfrm>
          <a:prstGeom prst="rect">
            <a:avLst/>
          </a:prstGeom>
        </p:spPr>
      </p:pic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AD0D9561-E154-7543-8D06-7AF9B72F9B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gray">
          <a:xfrm>
            <a:off x="2518979" y="3796320"/>
            <a:ext cx="5923490" cy="407987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2500" kern="1200" spc="40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SUBTITLE</a:t>
            </a:r>
          </a:p>
        </p:txBody>
      </p:sp>
      <p:pic>
        <p:nvPicPr>
          <p:cNvPr id="15" name="Picture 2" descr="C:\Users\Admin\Downloads\REVA LOGO2.png"/>
          <p:cNvPicPr>
            <a:picLocks noChangeAspect="1" noChangeArrowheads="1"/>
          </p:cNvPicPr>
          <p:nvPr userDrawn="1"/>
        </p:nvPicPr>
        <p:blipFill>
          <a:blip r:embed="rId3" cstate="print"/>
          <a:srcRect r="76596" b="15988"/>
          <a:stretch>
            <a:fillRect/>
          </a:stretch>
        </p:blipFill>
        <p:spPr bwMode="auto">
          <a:xfrm>
            <a:off x="152400" y="152400"/>
            <a:ext cx="685800" cy="6858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7327408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/ Video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9B10B4EE-A653-1D4B-98CF-698451C180B3}"/>
              </a:ext>
            </a:extLst>
          </p:cNvPr>
          <p:cNvSpPr>
            <a:spLocks noGrp="1"/>
          </p:cNvSpPr>
          <p:nvPr>
            <p:ph type="media" sz="quarter" idx="20" hasCustomPrompt="1"/>
          </p:nvPr>
        </p:nvSpPr>
        <p:spPr>
          <a:xfrm>
            <a:off x="623888" y="1412875"/>
            <a:ext cx="11088687" cy="44545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video</a:t>
            </a:r>
          </a:p>
          <a:p>
            <a:endParaRPr lang="en-US" dirty="0"/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34062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dia / Video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-1"/>
            <a:ext cx="12193193" cy="6858001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13" name="Media Placeholder 3">
            <a:extLst>
              <a:ext uri="{FF2B5EF4-FFF2-40B4-BE49-F238E27FC236}">
                <a16:creationId xmlns:a16="http://schemas.microsoft.com/office/drawing/2014/main" id="{9B10B4EE-A653-1D4B-98CF-698451C180B3}"/>
              </a:ext>
            </a:extLst>
          </p:cNvPr>
          <p:cNvSpPr>
            <a:spLocks noGrp="1"/>
          </p:cNvSpPr>
          <p:nvPr>
            <p:ph type="media" sz="quarter" idx="20" hasCustomPrompt="1"/>
          </p:nvPr>
        </p:nvSpPr>
        <p:spPr>
          <a:xfrm>
            <a:off x="623888" y="1412875"/>
            <a:ext cx="11088687" cy="4454525"/>
          </a:xfrm>
          <a:prstGeom prst="rect">
            <a:avLst/>
          </a:prstGeom>
        </p:spPr>
        <p:txBody>
          <a:bodyPr/>
          <a:lstStyle>
            <a:lvl1pPr marL="228600" marR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dirty="0"/>
              <a:t>Click Icon to add video</a:t>
            </a:r>
          </a:p>
          <a:p>
            <a:endParaRPr lang="en-US" dirty="0"/>
          </a:p>
        </p:txBody>
      </p:sp>
      <p:sp>
        <p:nvSpPr>
          <p:cNvPr id="15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347756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/ Video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8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13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4" name="Picture Placeholder 12"/>
          <p:cNvSpPr>
            <a:spLocks noGrp="1"/>
          </p:cNvSpPr>
          <p:nvPr>
            <p:ph type="pic" sz="quarter" idx="16" hasCustomPrompt="1"/>
          </p:nvPr>
        </p:nvSpPr>
        <p:spPr>
          <a:xfrm>
            <a:off x="60198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2340624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edia / Video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-1"/>
            <a:ext cx="12193193" cy="6858001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60960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Media/Video Page</a:t>
            </a:r>
          </a:p>
        </p:txBody>
      </p:sp>
      <p:sp>
        <p:nvSpPr>
          <p:cNvPr id="15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  <p:sp>
        <p:nvSpPr>
          <p:cNvPr id="6" name="Picture Placeholder 12"/>
          <p:cNvSpPr>
            <a:spLocks noGrp="1"/>
          </p:cNvSpPr>
          <p:nvPr>
            <p:ph type="pic" sz="quarter" idx="15" hasCustomPrompt="1"/>
          </p:nvPr>
        </p:nvSpPr>
        <p:spPr>
          <a:xfrm>
            <a:off x="6096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7" name="Picture Placeholder 12"/>
          <p:cNvSpPr>
            <a:spLocks noGrp="1"/>
          </p:cNvSpPr>
          <p:nvPr>
            <p:ph type="pic" sz="quarter" idx="16" hasCustomPrompt="1"/>
          </p:nvPr>
        </p:nvSpPr>
        <p:spPr>
          <a:xfrm>
            <a:off x="6019800" y="1447800"/>
            <a:ext cx="5257800" cy="4038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</p:spTree>
    <p:extLst>
      <p:ext uri="{BB962C8B-B14F-4D97-AF65-F5344CB8AC3E}">
        <p14:creationId xmlns:p14="http://schemas.microsoft.com/office/powerpoint/2010/main" val="234775606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2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6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333358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8028040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C:\Users\Admin\Downloads\ilovepdf_pages-to-jpg (3)\RU_PPT Template-White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8028040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py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C:\Users\Admin\Downloads\ilovepdf_pages-to-jpg (4)\RU_PPT Template-Grey Blank (1)_page-0004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 bwMode="gray">
          <a:xfrm>
            <a:off x="595469" y="374154"/>
            <a:ext cx="6211927" cy="440926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2800" b="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Copy Here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B73F14-68E6-0D40-8C86-4D7BCC64F88D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23888" y="836613"/>
            <a:ext cx="6192837" cy="43214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600" b="0" i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pPr lvl="0"/>
            <a:r>
              <a:rPr lang="en-US" dirty="0"/>
              <a:t>SUBTITLE HERE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7A2154B-A454-8249-909D-10FDDFC0967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1" y="1370483"/>
            <a:ext cx="7615365" cy="4722813"/>
          </a:xfrm>
          <a:prstGeom prst="rect">
            <a:avLst/>
          </a:prstGeom>
        </p:spPr>
        <p:txBody>
          <a:bodyPr/>
          <a:lstStyle>
            <a:lvl1pPr>
              <a:defRPr lang="en-US" altLang="ja-JP" sz="24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lang="en-US" altLang="ja-JP" sz="2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defRPr lang="en-US" altLang="ja-JP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5pPr>
              <a:defRPr lang="en-US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altLang="ja-JP" dirty="0"/>
              <a:t>Editable body copy</a:t>
            </a:r>
          </a:p>
          <a:p>
            <a:pPr marL="458788" lvl="1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809625" lvl="2" indent="-215900">
              <a:spcBef>
                <a:spcPts val="1000"/>
              </a:spcBef>
              <a:spcAft>
                <a:spcPts val="0"/>
              </a:spcAft>
              <a:tabLst/>
            </a:pPr>
            <a:r>
              <a:rPr lang="en-US" altLang="ja-JP" dirty="0"/>
              <a:t>Editable body copy</a:t>
            </a:r>
          </a:p>
          <a:p>
            <a:pPr marL="1323975" lvl="4" indent="-230188">
              <a:spcBef>
                <a:spcPts val="1000"/>
              </a:spcBef>
              <a:spcAft>
                <a:spcPts val="0"/>
              </a:spcAft>
              <a:tabLst/>
            </a:pPr>
            <a:endParaRPr lang="en-US" dirty="0"/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428028040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Image Black 3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7876850F-ABC0-9B46-8AA9-D1E0133CA4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7200" y="381000"/>
            <a:ext cx="5561400" cy="57150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F74C1A9-D7CD-AE4E-B3EE-BA5A1E80F2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70483"/>
            <a:ext cx="5112568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spcAft>
                <a:spcPts val="0"/>
              </a:spcAft>
              <a:tabLst/>
              <a:defRPr sz="2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spcAft>
                <a:spcPts val="0"/>
              </a:spcAft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4pPr>
            <a:lvl5pPr marL="1323975" indent="-230188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  <a:endParaRPr lang="en-US" dirty="0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23772385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Image White 5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7876850F-ABC0-9B46-8AA9-D1E0133CA4C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097200" y="381000"/>
            <a:ext cx="5561400" cy="5715000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0F74C1A9-D7CD-AE4E-B3EE-BA5A1E80F2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70483"/>
            <a:ext cx="5112568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spcAft>
                <a:spcPts val="0"/>
              </a:spcAft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spcAft>
                <a:spcPts val="0"/>
              </a:spcAft>
              <a:tabLst/>
              <a:defRPr sz="2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spcAft>
                <a:spcPts val="0"/>
              </a:spcAft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4pPr>
            <a:lvl5pPr marL="1323975" indent="-230188">
              <a:spcBef>
                <a:spcPts val="0"/>
              </a:spcBef>
              <a:spcAft>
                <a:spcPts val="1400"/>
              </a:spcAft>
              <a:tabLst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  <a:endParaRPr lang="en-US" dirty="0"/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7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73257095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Images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2" descr="C:\Users\Admin\Downloads\ilovepdf_pages-to-jpg (3)\RU_PPT Template-White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32C3D9F-FFE4-0F49-B358-349DAE3C53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80943" y="2527475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6CCF012A-37B8-A846-96C9-F68F190709B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83894" y="2527476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996502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171FABC-7F9F-3F4F-AF20-A434E98D45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3" y="4869160"/>
            <a:ext cx="3442051" cy="115212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AFFC4A7-46EC-C047-99A4-7BC9BF125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0249" y="4869160"/>
            <a:ext cx="3442051" cy="1152128"/>
          </a:xfrm>
          <a:prstGeom prst="rect">
            <a:avLst/>
          </a:prstGeom>
        </p:spPr>
        <p:txBody>
          <a:bodyPr/>
          <a:lstStyle>
            <a:lvl1pPr marL="230188" marR="0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5746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2pPr>
            <a:lvl3pPr marL="10318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Editable body copy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D8CAD92-AB23-784E-BBCE-25C0466B2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5147" y="4869160"/>
            <a:ext cx="3442051" cy="115212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133F4C6-1C2F-3C4D-AEE3-3C40BF75EF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2F415E3C-898F-174D-87AF-BF01FE9814F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247" y="2526937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583041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3 Images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2" descr="C:\Users\Admin\Downloads\ilovepdf_pages-to-jpg (4)\RU_PPT Template-Grey Blank (1)_page-0003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0" cy="6858000"/>
          </a:xfrm>
          <a:prstGeom prst="rect">
            <a:avLst/>
          </a:prstGeom>
          <a:noFill/>
        </p:spPr>
      </p:pic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F32C3D9F-FFE4-0F49-B358-349DAE3C537A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8480943" y="2527475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6CCF012A-37B8-A846-96C9-F68F190709BA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4583894" y="2527476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996502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171FABC-7F9F-3F4F-AF20-A434E98D451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3" y="4869160"/>
            <a:ext cx="3442051" cy="1152128"/>
          </a:xfrm>
          <a:prstGeom prst="rect">
            <a:avLst/>
          </a:prstGeom>
        </p:spPr>
        <p:txBody>
          <a:bodyPr/>
          <a:lstStyle>
            <a:lvl1pPr marL="171450" indent="-1714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AFFC4A7-46EC-C047-99A4-7BC9BF1252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480249" y="4869160"/>
            <a:ext cx="3442051" cy="1152128"/>
          </a:xfrm>
          <a:prstGeom prst="rect">
            <a:avLst/>
          </a:prstGeom>
        </p:spPr>
        <p:txBody>
          <a:bodyPr/>
          <a:lstStyle>
            <a:lvl1pPr marL="230188" marR="0" indent="-230188" algn="l" defTabSz="91440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5746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1100">
                <a:solidFill>
                  <a:schemeClr val="bg1"/>
                </a:solidFill>
              </a:defRPr>
            </a:lvl2pPr>
            <a:lvl3pPr marL="1031875" marR="0" indent="-1174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altLang="ja-JP" dirty="0"/>
              <a:t>Editable body copy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4D8CAD92-AB23-784E-BBCE-25C0466B2FF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45147" y="4869160"/>
            <a:ext cx="3442051" cy="1152128"/>
          </a:xfrm>
          <a:prstGeom prst="rect">
            <a:avLst/>
          </a:prstGeom>
        </p:spPr>
        <p:txBody>
          <a:bodyPr/>
          <a:lstStyle>
            <a:lvl1pPr marL="285750" indent="-285750">
              <a:spcBef>
                <a:spcPts val="300"/>
              </a:spcBef>
              <a:buFont typeface="Arial" panose="020B0604020202020204" pitchFamily="34" charset="0"/>
              <a:buChar char="•"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00050" indent="-157163">
              <a:spcBef>
                <a:spcPts val="900"/>
              </a:spcBef>
              <a:tabLst/>
              <a:defRPr sz="1100">
                <a:solidFill>
                  <a:schemeClr val="bg1"/>
                </a:solidFill>
              </a:defRPr>
            </a:lvl2pPr>
            <a:lvl3pPr marL="744538" indent="-150813">
              <a:spcBef>
                <a:spcPts val="900"/>
              </a:spcBef>
              <a:tabLst/>
              <a:defRPr sz="9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9133F4C6-1C2F-3C4D-AEE3-3C40BF75EF4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2F415E3C-898F-174D-87AF-BF01FE9814F3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99247" y="2526937"/>
            <a:ext cx="3291840" cy="2167128"/>
          </a:xfrm>
          <a:prstGeom prst="rect">
            <a:avLst/>
          </a:prstGeom>
        </p:spPr>
        <p:txBody>
          <a:bodyPr/>
          <a:lstStyle>
            <a:lvl1pPr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1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4583041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Table page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7260009-5486-ED4F-84C4-78FE71BC5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41EFC9F-B96F-204C-8057-F2337DEBA477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23392" y="2204864"/>
            <a:ext cx="11089183" cy="3887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2547005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le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2000" cy="685733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Table page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7260009-5486-ED4F-84C4-78FE71BC59F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941EFC9F-B96F-204C-8057-F2337DEBA477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623392" y="2204864"/>
            <a:ext cx="11089183" cy="388796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Table</a:t>
            </a:r>
          </a:p>
        </p:txBody>
      </p:sp>
      <p:sp>
        <p:nvSpPr>
          <p:cNvPr id="9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25470058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407368" y="2276872"/>
            <a:ext cx="11325348" cy="3751914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bar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Bar</a:t>
            </a:r>
            <a:br>
              <a:rPr lang="en-US" dirty="0"/>
            </a:br>
            <a:r>
              <a:rPr lang="en-US" dirty="0"/>
              <a:t>Graph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23146128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aph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 hasCustomPrompt="1"/>
          </p:nvPr>
        </p:nvSpPr>
        <p:spPr>
          <a:xfrm>
            <a:off x="407368" y="2276872"/>
            <a:ext cx="11325348" cy="3751914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bar Graph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3392" y="1340768"/>
            <a:ext cx="11089232" cy="864096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Bar</a:t>
            </a:r>
            <a:br>
              <a:rPr lang="en-US" dirty="0"/>
            </a:br>
            <a:r>
              <a:rPr lang="en-US" dirty="0"/>
              <a:t>Graph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231461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and Graph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8612" y="1376067"/>
            <a:ext cx="5404104" cy="478923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99629"/>
            <a:ext cx="5230853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tabLst/>
              <a:defRPr sz="2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tabLst/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69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1851022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py and Graph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C95A2DA0-563A-2A49-9D5E-DC5BC2FF0F6D}"/>
              </a:ext>
            </a:extLst>
          </p:cNvPr>
          <p:cNvSpPr>
            <a:spLocks noGrp="1"/>
          </p:cNvSpPr>
          <p:nvPr>
            <p:ph type="chart" sz="quarter" idx="19"/>
          </p:nvPr>
        </p:nvSpPr>
        <p:spPr>
          <a:xfrm>
            <a:off x="6328612" y="1376067"/>
            <a:ext cx="5404104" cy="4789237"/>
          </a:xfrm>
          <a:prstGeom prst="rect">
            <a:avLst/>
          </a:prstGeom>
        </p:spPr>
        <p:txBody>
          <a:bodyPr/>
          <a:lstStyle>
            <a:lvl1pPr>
              <a:defRPr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Click icon to add chart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7C66B2-DB5E-EF42-BC3E-8844BAB7CAB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99629"/>
            <a:ext cx="5230853" cy="4722813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1000"/>
              </a:spcBef>
              <a:tabLst/>
              <a:defRPr sz="2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 marL="809625" indent="-215900">
              <a:spcBef>
                <a:spcPts val="1000"/>
              </a:spcBef>
              <a:tabLst/>
              <a:defRPr sz="20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altLang="ja-JP" dirty="0"/>
              <a:t>Editable body copy</a:t>
            </a:r>
          </a:p>
          <a:p>
            <a:pPr lvl="2"/>
            <a:r>
              <a:rPr lang="en-US" altLang="ja-JP" dirty="0"/>
              <a:t>Editable body copy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69" y="395786"/>
            <a:ext cx="6211927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Heading </a:t>
            </a:r>
            <a:br>
              <a:rPr lang="en-US" dirty="0"/>
            </a:br>
            <a:r>
              <a:rPr lang="en-US" dirty="0"/>
              <a:t>Copy Here</a:t>
            </a:r>
          </a:p>
        </p:txBody>
      </p:sp>
      <p:sp>
        <p:nvSpPr>
          <p:cNvPr id="1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518510220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Slide Black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" descr="C:\Users\Admin\Downloads\ilovepdf_pages-to-jpg (4)\RU_PPT Template-Grey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12193191" cy="6858000"/>
          </a:xfrm>
          <a:prstGeom prst="rect">
            <a:avLst/>
          </a:prstGeom>
          <a:noFill/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Work Flow slide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C105C5C-DB09-9B48-BE37-71390178EE7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40768"/>
            <a:ext cx="11089232" cy="100811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Editable body copy</a:t>
            </a:r>
          </a:p>
        </p:txBody>
      </p:sp>
      <p:sp>
        <p:nvSpPr>
          <p:cNvPr id="2" name="Pentagon 1">
            <a:extLst>
              <a:ext uri="{FF2B5EF4-FFF2-40B4-BE49-F238E27FC236}">
                <a16:creationId xmlns:a16="http://schemas.microsoft.com/office/drawing/2014/main" id="{8FBA3758-16A0-D14A-BD36-337B1D31271F}"/>
              </a:ext>
            </a:extLst>
          </p:cNvPr>
          <p:cNvSpPr/>
          <p:nvPr userDrawn="1"/>
        </p:nvSpPr>
        <p:spPr>
          <a:xfrm>
            <a:off x="808086" y="2636912"/>
            <a:ext cx="3816424" cy="1800200"/>
          </a:xfrm>
          <a:prstGeom prst="homePlate">
            <a:avLst>
              <a:gd name="adj" fmla="val 22899"/>
            </a:avLst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4720C1A-BDFE-E146-B6ED-4700DEA3F3E3}"/>
              </a:ext>
            </a:extLst>
          </p:cNvPr>
          <p:cNvSpPr/>
          <p:nvPr userDrawn="1"/>
        </p:nvSpPr>
        <p:spPr>
          <a:xfrm>
            <a:off x="440848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E3B464B9-0F71-424C-BC88-02B2AA03265F}"/>
              </a:ext>
            </a:extLst>
          </p:cNvPr>
          <p:cNvSpPr/>
          <p:nvPr userDrawn="1"/>
        </p:nvSpPr>
        <p:spPr>
          <a:xfrm>
            <a:off x="764884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376484-E90C-F04E-B131-5D61FED1F33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590" y="2708275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94D7AD1-383D-8841-8460-9BA6874F355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0534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D95E0D3F-8EC7-5649-B14D-1D587E65EF9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05631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7D7869EA-8258-0C41-A3E5-4FCD4D1F17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590" y="4648587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300"/>
              </a:spcBef>
              <a:defRPr sz="20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06121E29-064A-1641-86F9-CFB9DAF65AE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72727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0018615F-C088-3949-9CA2-1FDCB1416F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4278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2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70482833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low Slide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" descr="C:\Users\Admin\Downloads\ilovepdf_pages-to-jpg (3)\RU_PPT Template-White Blank (1)_page-0005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E9E6745F-DAB6-B248-B478-7A0CF8A76E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595470" y="395786"/>
            <a:ext cx="5258776" cy="838202"/>
          </a:xfrm>
          <a:prstGeom prst="rect">
            <a:avLst/>
          </a:prstGeom>
        </p:spPr>
        <p:txBody>
          <a:bodyPr anchor="ctr" anchorCtr="0">
            <a:noAutofit/>
          </a:bodyPr>
          <a:lstStyle>
            <a:lvl1pPr>
              <a:defRPr sz="2800" cap="all" spc="0" baseline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Workflow slide</a:t>
            </a:r>
          </a:p>
        </p:txBody>
      </p:sp>
      <p:sp>
        <p:nvSpPr>
          <p:cNvPr id="8" name="Pentagon 7">
            <a:extLst>
              <a:ext uri="{FF2B5EF4-FFF2-40B4-BE49-F238E27FC236}">
                <a16:creationId xmlns:a16="http://schemas.microsoft.com/office/drawing/2014/main" id="{5A79C9B3-40EA-6841-962A-BB4931099614}"/>
              </a:ext>
            </a:extLst>
          </p:cNvPr>
          <p:cNvSpPr/>
          <p:nvPr userDrawn="1"/>
        </p:nvSpPr>
        <p:spPr>
          <a:xfrm>
            <a:off x="808086" y="2636912"/>
            <a:ext cx="3816424" cy="1800200"/>
          </a:xfrm>
          <a:prstGeom prst="homePlate">
            <a:avLst>
              <a:gd name="adj" fmla="val 22899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65D17357-6BFE-1941-B56A-C8F51F73177D}"/>
              </a:ext>
            </a:extLst>
          </p:cNvPr>
          <p:cNvSpPr/>
          <p:nvPr userDrawn="1"/>
        </p:nvSpPr>
        <p:spPr>
          <a:xfrm>
            <a:off x="440848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480B83C1-8261-F644-8639-88185FC10CFE}"/>
              </a:ext>
            </a:extLst>
          </p:cNvPr>
          <p:cNvSpPr/>
          <p:nvPr userDrawn="1"/>
        </p:nvSpPr>
        <p:spPr>
          <a:xfrm>
            <a:off x="7648846" y="2636912"/>
            <a:ext cx="3487714" cy="1800200"/>
          </a:xfrm>
          <a:custGeom>
            <a:avLst/>
            <a:gdLst>
              <a:gd name="connsiteX0" fmla="*/ 0 w 3487714"/>
              <a:gd name="connsiteY0" fmla="*/ 0 h 1800200"/>
              <a:gd name="connsiteX1" fmla="*/ 3075486 w 3487714"/>
              <a:gd name="connsiteY1" fmla="*/ 0 h 1800200"/>
              <a:gd name="connsiteX2" fmla="*/ 3487714 w 3487714"/>
              <a:gd name="connsiteY2" fmla="*/ 900100 h 1800200"/>
              <a:gd name="connsiteX3" fmla="*/ 3075486 w 3487714"/>
              <a:gd name="connsiteY3" fmla="*/ 1800200 h 1800200"/>
              <a:gd name="connsiteX4" fmla="*/ 0 w 3487714"/>
              <a:gd name="connsiteY4" fmla="*/ 1800200 h 1800200"/>
              <a:gd name="connsiteX5" fmla="*/ 412228 w 3487714"/>
              <a:gd name="connsiteY5" fmla="*/ 900100 h 1800200"/>
              <a:gd name="connsiteX6" fmla="*/ 0 w 3487714"/>
              <a:gd name="connsiteY6" fmla="*/ 0 h 1800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487714" h="1800200">
                <a:moveTo>
                  <a:pt x="0" y="0"/>
                </a:moveTo>
                <a:lnTo>
                  <a:pt x="3075486" y="0"/>
                </a:lnTo>
                <a:lnTo>
                  <a:pt x="3487714" y="900100"/>
                </a:lnTo>
                <a:lnTo>
                  <a:pt x="3075486" y="1800200"/>
                </a:lnTo>
                <a:lnTo>
                  <a:pt x="0" y="1800200"/>
                </a:lnTo>
                <a:lnTo>
                  <a:pt x="412228" y="900100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A5A5A5"/>
              </a:solidFill>
              <a:latin typeface="Roboto Medium" pitchFamily="2" charset="0"/>
              <a:ea typeface="Roboto Medium" pitchFamily="2" charset="0"/>
              <a:cs typeface="Nobel-Light" panose="02000506020000020004" pitchFamily="2" charset="0"/>
            </a:endParaRP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CF6605B9-0F65-4D4B-9FFA-E922993530E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880590" y="2708275"/>
            <a:ext cx="331152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99737036-FF00-C544-808C-D5A2177D418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840534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91CC5985-5A7F-6441-BC10-7E669F1E87C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105631" y="2708275"/>
            <a:ext cx="2826775" cy="1657350"/>
          </a:xfrm>
          <a:prstGeom prst="rect">
            <a:avLst/>
          </a:prstGeom>
        </p:spPr>
        <p:txBody>
          <a:bodyPr/>
          <a:lstStyle>
            <a:lvl1pPr>
              <a:spcBef>
                <a:spcPts val="500"/>
              </a:spcBef>
              <a:defRPr sz="18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2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ja-JP" dirty="0"/>
              <a:t>Editable body copy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6AB7B642-A681-B34E-977A-6F85EA6BC12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80590" y="4648587"/>
            <a:ext cx="3311525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82827E12-373D-8B4F-AD69-9F7C005EDEA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872727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FCBB0C0-51D7-0448-A90C-8B8B74462D9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084278" y="4648587"/>
            <a:ext cx="2848128" cy="1657350"/>
          </a:xfrm>
          <a:prstGeom prst="rect">
            <a:avLst/>
          </a:prstGeom>
        </p:spPr>
        <p:txBody>
          <a:bodyPr/>
          <a:lstStyle>
            <a:lvl1pPr marL="228600" indent="-228600">
              <a:spcBef>
                <a:spcPts val="300"/>
              </a:spcBef>
              <a:defRPr lang="en-US" altLang="ja-JP" sz="2000" kern="1200" dirty="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>
              <a:spcBef>
                <a:spcPts val="300"/>
              </a:spcBef>
              <a:defRPr sz="1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2pPr>
            <a:lvl3pPr>
              <a:spcBef>
                <a:spcPts val="300"/>
              </a:spcBef>
              <a:defRPr sz="12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marL="228600" lvl="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en-US" altLang="ja-JP" dirty="0"/>
              <a:t>Editable body copy</a:t>
            </a:r>
          </a:p>
          <a:p>
            <a:pPr lvl="1"/>
            <a:r>
              <a:rPr lang="en-US" dirty="0"/>
              <a:t>Editable body copy</a:t>
            </a:r>
          </a:p>
          <a:p>
            <a:pPr lvl="2"/>
            <a:r>
              <a:rPr lang="en-US" dirty="0"/>
              <a:t>Editable body copy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0E1F1297-EA50-094F-9E80-E44D36C5432B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3392" y="1340768"/>
            <a:ext cx="11089232" cy="1008112"/>
          </a:xfrm>
          <a:prstGeom prst="rect">
            <a:avLst/>
          </a:prstGeom>
        </p:spPr>
        <p:txBody>
          <a:bodyPr anchor="ctr"/>
          <a:lstStyle>
            <a:lvl1pPr marL="0" indent="0">
              <a:spcBef>
                <a:spcPts val="1000"/>
              </a:spcBef>
              <a:buNone/>
              <a:defRPr sz="2400">
                <a:solidFill>
                  <a:srgbClr val="A5A5A5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  <a:lvl2pPr marL="458788" indent="-215900">
              <a:spcBef>
                <a:spcPts val="900"/>
              </a:spcBef>
              <a:tabLst/>
              <a:defRPr sz="2000">
                <a:solidFill>
                  <a:schemeClr val="bg1"/>
                </a:solidFill>
              </a:defRPr>
            </a:lvl2pPr>
            <a:lvl3pPr marL="809625" indent="-215900">
              <a:spcBef>
                <a:spcPts val="900"/>
              </a:spcBef>
              <a:tabLst/>
              <a:defRPr sz="1800">
                <a:solidFill>
                  <a:schemeClr val="bg1"/>
                </a:solidFill>
              </a:defRPr>
            </a:lvl3pPr>
            <a:lvl4pPr marL="1093788" indent="-203200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4pPr>
            <a:lvl5pPr marL="1323975" indent="-230188">
              <a:spcBef>
                <a:spcPts val="900"/>
              </a:spcBef>
              <a:tabLst/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Editable body copy</a:t>
            </a:r>
          </a:p>
        </p:txBody>
      </p:sp>
      <p:sp>
        <p:nvSpPr>
          <p:cNvPr id="24" name="Slide Number Placeholder 17"/>
          <p:cNvSpPr>
            <a:spLocks noGrp="1"/>
          </p:cNvSpPr>
          <p:nvPr>
            <p:ph type="sldNum" sz="quarter" idx="14"/>
          </p:nvPr>
        </p:nvSpPr>
        <p:spPr bwMode="gray">
          <a:xfrm>
            <a:off x="11367146" y="6096000"/>
            <a:ext cx="596254" cy="365125"/>
          </a:xfrm>
          <a:prstGeom prst="rect">
            <a:avLst/>
          </a:prstGeom>
        </p:spPr>
        <p:txBody>
          <a:bodyPr anchor="ctr"/>
          <a:lstStyle>
            <a:lvl1pPr algn="ctr">
              <a:defRPr sz="1800" b="0" i="0">
                <a:solidFill>
                  <a:schemeClr val="tx1"/>
                </a:solidFill>
                <a:latin typeface="Roboto Medium" pitchFamily="2" charset="0"/>
                <a:ea typeface="Roboto Medium" pitchFamily="2" charset="0"/>
              </a:defRPr>
            </a:lvl1pPr>
          </a:lstStyle>
          <a:p>
            <a:fld id="{45A3C14A-F937-4231-B6F1-40B429FAFB2F}" type="slidenum">
              <a:rPr lang="en-NZ" smtClean="0"/>
              <a:pPr/>
              <a:t>‹#›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228605955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2" descr="C:\Users\Admin\Downloads\ilovepdf_pages-to-jpg (3)\RU_PPT Template-White Blank (1)_page-0002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14339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 cstate="print"/>
          <a:srcRect l="6250" t="83342" b="3324"/>
          <a:stretch>
            <a:fillRect/>
          </a:stretch>
        </p:blipFill>
        <p:spPr bwMode="auto">
          <a:xfrm>
            <a:off x="2173941" y="5983224"/>
            <a:ext cx="9982200" cy="798576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-1" y="0"/>
            <a:ext cx="12193191" cy="6858000"/>
          </a:xfrm>
          <a:prstGeom prst="rect">
            <a:avLst/>
          </a:prstGeom>
          <a:noFill/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3017837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6" name="Picture 2" descr="C:\Users\Admin\Downloads\ilovepdf_pages-to-jpg (2)\RU_PPT Template-Grey Blank_page-0001.jpg"/>
          <p:cNvPicPr>
            <a:picLocks noChangeAspect="1" noChangeArrowheads="1"/>
          </p:cNvPicPr>
          <p:nvPr userDrawn="1"/>
        </p:nvPicPr>
        <p:blipFill>
          <a:blip r:embed="rId2"/>
          <a:srcRect t="69444" b="16667"/>
          <a:stretch>
            <a:fillRect/>
          </a:stretch>
        </p:blipFill>
        <p:spPr bwMode="auto">
          <a:xfrm>
            <a:off x="228600" y="1752600"/>
            <a:ext cx="5486400" cy="1143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hank You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 descr="C:\Users\Admin\Downloads\FAI_7881_HDR_edit.jpg"/>
          <p:cNvPicPr>
            <a:picLocks noChangeAspect="1" noChangeArrowheads="1"/>
          </p:cNvPicPr>
          <p:nvPr userDrawn="1"/>
        </p:nvPicPr>
        <p:blipFill>
          <a:blip r:embed="rId2" cstate="print"/>
          <a:srcRect r="872" b="11451"/>
          <a:stretch>
            <a:fillRect/>
          </a:stretch>
        </p:blipFill>
        <p:spPr bwMode="auto">
          <a:xfrm>
            <a:off x="-16567" y="-16565"/>
            <a:ext cx="12246810" cy="6896100"/>
          </a:xfrm>
          <a:prstGeom prst="rect">
            <a:avLst/>
          </a:prstGeom>
          <a:noFill/>
        </p:spPr>
      </p:pic>
      <p:sp>
        <p:nvSpPr>
          <p:cNvPr id="7" name="Rectangle 6"/>
          <p:cNvSpPr/>
          <p:nvPr userDrawn="1"/>
        </p:nvSpPr>
        <p:spPr>
          <a:xfrm>
            <a:off x="-26276" y="-26276"/>
            <a:ext cx="12218276" cy="6884276"/>
          </a:xfrm>
          <a:prstGeom prst="rect">
            <a:avLst/>
          </a:prstGeom>
          <a:solidFill>
            <a:schemeClr val="dk1">
              <a:alpha val="59000"/>
            </a:schemeClr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76197" tIns="38098" rIns="76197" bIns="38098" rtlCol="0" anchor="ctr"/>
          <a:lstStyle/>
          <a:p>
            <a:pPr algn="ctr"/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chemeClr val="bg1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pic>
        <p:nvPicPr>
          <p:cNvPr id="8" name="Picture 3" descr="C:\Users\Admin\Downloads\1-05.png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8890001" y="0"/>
            <a:ext cx="3064565" cy="147828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45926643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Custom Pictur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F49B44DA-46E8-CE45-AC10-AC35239D50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764976" y="2708920"/>
            <a:ext cx="10515600" cy="1325563"/>
          </a:xfrm>
          <a:prstGeom prst="rect">
            <a:avLst/>
          </a:prstGeom>
        </p:spPr>
        <p:txBody>
          <a:bodyPr lIns="91436" tIns="45718" rIns="91436" bIns="45718" anchor="ctr"/>
          <a:lstStyle>
            <a:lvl1pPr algn="ctr">
              <a:defRPr sz="7800" b="1" i="0" spc="0">
                <a:solidFill>
                  <a:srgbClr val="FF6600"/>
                </a:solidFill>
                <a:latin typeface="Roboto Medium" pitchFamily="2" charset="0"/>
                <a:ea typeface="Roboto Medium" pitchFamily="2" charset="0"/>
                <a:cs typeface="Roboto Medium" pitchFamily="2" charset="0"/>
              </a:defRPr>
            </a:lvl1pPr>
          </a:lstStyle>
          <a:p>
            <a:r>
              <a:rPr lang="en-US" dirty="0"/>
              <a:t>THANK YOU</a:t>
            </a:r>
            <a:endParaRPr lang="en-NZ" dirty="0"/>
          </a:p>
        </p:txBody>
      </p:sp>
      <p:sp>
        <p:nvSpPr>
          <p:cNvPr id="7" name="Picture Placeholder 2">
            <a:extLst>
              <a:ext uri="{FF2B5EF4-FFF2-40B4-BE49-F238E27FC236}">
                <a16:creationId xmlns:a16="http://schemas.microsoft.com/office/drawing/2014/main" id="{D9D1C3BC-7BFF-1640-819B-5BED6BEC9B4F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 b="0" i="0" baseline="0">
                <a:latin typeface="Roboto Medium" pitchFamily="2" charset="0"/>
                <a:ea typeface="Roboto Medium" pitchFamily="2" charset="0"/>
              </a:defRPr>
            </a:lvl1pPr>
          </a:lstStyle>
          <a:p>
            <a:r>
              <a:rPr lang="en-US" dirty="0"/>
              <a:t>Click icon to add image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F1A0E79-2BC7-C74E-A6C5-1646C3E49F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352" y="6384910"/>
            <a:ext cx="812480" cy="142503"/>
          </a:xfrm>
          <a:prstGeom prst="rect">
            <a:avLst/>
          </a:prstGeom>
        </p:spPr>
      </p:pic>
      <p:pic>
        <p:nvPicPr>
          <p:cNvPr id="11" name="Picture 3" descr="C:\Users\Admin\Downloads\ilovepdf_pages-to-jpg (3)\RU_PPT Template-White Blank (1)_page-0001.jpg"/>
          <p:cNvPicPr>
            <a:picLocks noChangeAspect="1" noChangeArrowheads="1"/>
          </p:cNvPicPr>
          <p:nvPr userDrawn="1"/>
        </p:nvPicPr>
        <p:blipFill>
          <a:blip r:embed="rId3"/>
          <a:srcRect l="6250" t="83342" b="3324"/>
          <a:stretch>
            <a:fillRect/>
          </a:stretch>
        </p:blipFill>
        <p:spPr bwMode="auto">
          <a:xfrm>
            <a:off x="726141" y="5867400"/>
            <a:ext cx="11430000" cy="9144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700696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9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5" Type="http://schemas.openxmlformats.org/officeDocument/2006/relationships/theme" Target="../theme/theme4.xml"/><Relationship Id="rId4" Type="http://schemas.openxmlformats.org/officeDocument/2006/relationships/slideLayout" Target="../slideLayouts/slideLayout16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5" Type="http://schemas.openxmlformats.org/officeDocument/2006/relationships/theme" Target="../theme/theme5.xml"/><Relationship Id="rId4" Type="http://schemas.openxmlformats.org/officeDocument/2006/relationships/slideLayout" Target="../slideLayouts/slideLayout20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2.xml"/><Relationship Id="rId1" Type="http://schemas.openxmlformats.org/officeDocument/2006/relationships/slideLayout" Target="../slideLayouts/slideLayout21.xml"/><Relationship Id="rId5" Type="http://schemas.openxmlformats.org/officeDocument/2006/relationships/theme" Target="../theme/theme6.xml"/><Relationship Id="rId4" Type="http://schemas.openxmlformats.org/officeDocument/2006/relationships/slideLayout" Target="../slideLayouts/slideLayout24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7.xml"/><Relationship Id="rId7" Type="http://schemas.openxmlformats.org/officeDocument/2006/relationships/theme" Target="../theme/theme7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4.xml"/><Relationship Id="rId1" Type="http://schemas.openxmlformats.org/officeDocument/2006/relationships/slideLayout" Target="../slideLayouts/slideLayout33.xml"/><Relationship Id="rId5" Type="http://schemas.openxmlformats.org/officeDocument/2006/relationships/theme" Target="../theme/theme9.xml"/><Relationship Id="rId4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88079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2" r:id="rId1"/>
    <p:sldLayoutId id="2147483886" r:id="rId2"/>
    <p:sldLayoutId id="2147484009" r:id="rId3"/>
    <p:sldLayoutId id="2147483883" r:id="rId4"/>
    <p:sldLayoutId id="2147483977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9393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  <p:sldLayoutId id="2147483941" r:id="rId2"/>
    <p:sldLayoutId id="2147483943" r:id="rId3"/>
    <p:sldLayoutId id="214748394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996873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2" r:id="rId1"/>
    <p:sldLayoutId id="2147483873" r:id="rId2"/>
    <p:sldLayoutId id="2147483996" r:id="rId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033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  <p:sldLayoutId id="2147483930" r:id="rId2"/>
    <p:sldLayoutId id="2147483998" r:id="rId3"/>
    <p:sldLayoutId id="2147483999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1736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4002" r:id="rId3"/>
    <p:sldLayoutId id="214748400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16152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3" r:id="rId1"/>
    <p:sldLayoutId id="2147483910" r:id="rId2"/>
    <p:sldLayoutId id="2147483891" r:id="rId3"/>
    <p:sldLayoutId id="2147484000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027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4001" r:id="rId2"/>
    <p:sldLayoutId id="2147483916" r:id="rId3"/>
    <p:sldLayoutId id="2147484004" r:id="rId4"/>
    <p:sldLayoutId id="2147483879" r:id="rId5"/>
    <p:sldLayoutId id="2147484005" r:id="rId6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21163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5" r:id="rId1"/>
    <p:sldLayoutId id="2147483936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16446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07" r:id="rId1"/>
    <p:sldLayoutId id="2147484008" r:id="rId2"/>
    <p:sldLayoutId id="2147484006" r:id="rId3"/>
    <p:sldLayoutId id="2147483992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058553" y="3124200"/>
            <a:ext cx="10219047" cy="1750095"/>
          </a:xfrm>
        </p:spPr>
        <p:txBody>
          <a:bodyPr/>
          <a:lstStyle/>
          <a:p>
            <a:r>
              <a:rPr lang="en-US" sz="3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RASFLIPPER-Portable Multi-Protocol Pentest Tool Kit  Final Presentation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1046572" y="4874296"/>
            <a:ext cx="8935628" cy="66348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School of Computer Science and Engineering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B Tech(CSIT,CSSE,IOT,ISE)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2</a:t>
            </a:fld>
            <a:endParaRPr lang="en-NZ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695400" y="395786"/>
            <a:ext cx="10671746" cy="838202"/>
          </a:xfrm>
        </p:spPr>
        <p:txBody>
          <a:bodyPr/>
          <a:lstStyle/>
          <a:p>
            <a:r>
              <a:rPr lang="en-US" sz="32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RASFLIPPER-Portable Multi-Protocol </a:t>
            </a:r>
            <a:r>
              <a:rPr lang="en-US" sz="3200" b="1" cap="none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Pentesting</a:t>
            </a:r>
            <a:r>
              <a:rPr lang="en-US" sz="32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Tool Kit</a:t>
            </a:r>
            <a:endParaRPr lang="en-US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95400" y="1524000"/>
            <a:ext cx="1067174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Calibri" panose="020F0502020204030204" pitchFamily="34" charset="0"/>
              </a:rPr>
              <a:t>Group No: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</a:rPr>
              <a:t>A15</a:t>
            </a:r>
          </a:p>
          <a:p>
            <a:endParaRPr lang="en-US" sz="2000" b="1" dirty="0">
              <a:latin typeface="Times New Roman" panose="02020603050405020304" pitchFamily="18" charset="0"/>
              <a:ea typeface="Calibri" panose="020F0502020204030204" pitchFamily="34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</a:rPr>
              <a:t>Group Name:</a:t>
            </a:r>
          </a:p>
          <a:p>
            <a:endParaRPr lang="en-US" sz="2000" b="1" dirty="0">
              <a:latin typeface="Times New Roman" panose="02020603050405020304" pitchFamily="18" charset="0"/>
            </a:endParaRPr>
          </a:p>
          <a:p>
            <a:r>
              <a:rPr lang="en-US" sz="2000" b="1" dirty="0">
                <a:latin typeface="Times New Roman" panose="02020603050405020304" pitchFamily="18" charset="0"/>
              </a:rPr>
              <a:t>Group Members: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</a:rPr>
              <a:t> M. Mourya Koushik Reddy &lt;R22EI044&gt; &lt;Roll: Project Leader&gt;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</a:rPr>
              <a:t> B. Gajan Varood &lt;R22EI031&gt; &lt;Roll: Documenter Lead&gt;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</a:rPr>
              <a:t> V. Deekshith &lt;R22EI058&gt; &lt;Roll: Developer Lead&gt;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</a:rPr>
              <a:t> C. Gnaneswar Reddy &lt;R22EI032&gt; &lt;Roll: Developer&gt;</a:t>
            </a:r>
          </a:p>
        </p:txBody>
      </p:sp>
      <p:sp>
        <p:nvSpPr>
          <p:cNvPr id="6" name="Rectangle 5"/>
          <p:cNvSpPr/>
          <p:nvPr/>
        </p:nvSpPr>
        <p:spPr>
          <a:xfrm>
            <a:off x="695400" y="4876800"/>
            <a:ext cx="10671746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of the Guide: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 P.V. Bhaskar Reddy</a:t>
            </a:r>
          </a:p>
          <a:p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Designation: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Professor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RASFLIPPER-Portable Multi-Protocol </a:t>
            </a:r>
            <a:r>
              <a:rPr lang="en-US" sz="32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Pentesting</a:t>
            </a:r>
            <a:r>
              <a:rPr lang="en-US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Tool Kit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1"/>
          </p:nvPr>
        </p:nvSpPr>
        <p:spPr>
          <a:xfrm>
            <a:off x="2518979" y="3859213"/>
            <a:ext cx="5923490" cy="407987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Presentation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7"/>
          </p:nvPr>
        </p:nvSpPr>
        <p:spPr>
          <a:xfrm>
            <a:off x="695400" y="1233988"/>
            <a:ext cx="10810800" cy="4609372"/>
          </a:xfrm>
        </p:spPr>
        <p:txBody>
          <a:bodyPr/>
          <a:lstStyle/>
          <a:p>
            <a:pPr lvl="0"/>
            <a:r>
              <a:rPr lang="en-I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Introduction</a:t>
            </a: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Literature Survey</a:t>
            </a:r>
            <a:endParaRPr lang="en-US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Research gap</a:t>
            </a:r>
          </a:p>
          <a:p>
            <a:pPr lvl="0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Objective of the project</a:t>
            </a:r>
          </a:p>
          <a:p>
            <a:pPr lvl="0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Proposed Work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Methodology/Architecture</a:t>
            </a:r>
            <a:endParaRPr lang="en-US" sz="2000" dirty="0">
              <a:solidFill>
                <a:schemeClr val="tx1"/>
              </a:solidFill>
              <a:effectLst/>
              <a:latin typeface="Times New Roman" panose="02020603050405020304" pitchFamily="18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lvl="0"/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ea typeface="Malgun Gothic" panose="020B0503020000020004" pitchFamily="34" charset="-127"/>
                <a:cs typeface="Times New Roman" panose="02020603050405020304" pitchFamily="18" charset="0"/>
              </a:rPr>
              <a:t>Results</a:t>
            </a:r>
            <a:endParaRPr 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</a:p>
          <a:p>
            <a:pPr lvl="0"/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Acceptance of Letter</a:t>
            </a:r>
          </a:p>
          <a:p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 cap="none" dirty="0">
                <a:solidFill>
                  <a:srgbClr val="FF6600"/>
                </a:solidFill>
              </a:rPr>
              <a:t>Contents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4</a:t>
            </a:fld>
            <a:endParaRPr lang="en-NZ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C5A193-340C-2047-694F-7306EEB9C03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5</a:t>
            </a:fld>
            <a:endParaRPr lang="en-NZ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A8EC37B-32B1-E34B-4D07-0751A23C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691906"/>
            <a:ext cx="6211927" cy="838202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Introduction: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DA64F53-1BB1-D88D-A070-33EE673A544C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1600200" y="1538129"/>
            <a:ext cx="8991600" cy="37817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With the rapid growth of wireless technologies, multiple communication protocols are used daily (Wi-Fi, Bluetooth, RF). </a:t>
            </a:r>
          </a:p>
          <a:p>
            <a:pPr marL="528638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Monitoring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analysing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these signals is important for: </a:t>
            </a:r>
          </a:p>
          <a:p>
            <a:pPr marL="528638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</a:p>
          <a:p>
            <a:pPr marL="528638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Research </a:t>
            </a:r>
          </a:p>
          <a:p>
            <a:pPr marL="528638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Network management </a:t>
            </a:r>
          </a:p>
          <a:p>
            <a:pPr marL="528638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Traditional tools are expensive and complex.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introduces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RasFlipper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portable multi-protocol analysis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built using a Raspberry Pi.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149135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572752A-E158-D02D-97A4-A45AB546CD61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6</a:t>
            </a:fld>
            <a:endParaRPr lang="en-NZ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1DAFAB-3397-D296-768C-C902BF0EA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473" y="395786"/>
            <a:ext cx="6211927" cy="838202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Survey: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A5E1F25C-E66E-5880-6799-18DDA866630E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1143000" y="1209032"/>
            <a:ext cx="8001000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Studies on Wi-Fi vulnerabilities and wireless misconfigurations.</a:t>
            </a: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Pi–based security auditing frameworks.</a:t>
            </a: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Bluetooth and BLE scanning research.</a:t>
            </a: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Defined Radio (SDR)–based RF monitoring systems.</a:t>
            </a: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Embedded Linux platforms for portable wireless testing.</a:t>
            </a: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Observation:</a:t>
            </a: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existing research focuses on single-protocol systems.</a:t>
            </a:r>
          </a:p>
          <a:p>
            <a:pPr marL="0" lvl="0" indent="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multi-portable frameworks are limited.</a:t>
            </a:r>
          </a:p>
        </p:txBody>
      </p:sp>
    </p:spTree>
    <p:extLst>
      <p:ext uri="{BB962C8B-B14F-4D97-AF65-F5344CB8AC3E}">
        <p14:creationId xmlns:p14="http://schemas.microsoft.com/office/powerpoint/2010/main" val="1311487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041FEB-69C4-2BF5-F2CF-627EF76ECF7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7</a:t>
            </a:fld>
            <a:endParaRPr lang="en-NZ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305274A-0F72-933E-28BF-24B0690CC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7073" y="395786"/>
            <a:ext cx="6211927" cy="838202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GAP: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99B1F752-E58E-72C2-63D6-746DD4FA0092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1180770" y="1457041"/>
            <a:ext cx="10401630" cy="38769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1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Identified Gaps: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Existing portable </a:t>
            </a:r>
            <a:r>
              <a:rPr lang="en-US" sz="1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pentesting</a:t>
            </a: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tools mainly focus only on Wi-Fi security. 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Most solutions lack integration of Wi-Fi, Bluetooth, and SDR monitoring in one device. 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Current systems often require laptops, reducing portability and field usability. </a:t>
            </a:r>
          </a:p>
          <a:p>
            <a:pPr marL="285750" indent="-285750" algn="just">
              <a:lnSpc>
                <a:spcPct val="2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Low-cost open-source standalone cybersecurity platforms are very limited.</a:t>
            </a:r>
            <a:endParaRPr lang="en-IN" sz="1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5756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3D8974-3FA5-BB66-4770-8E489CA6013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8</a:t>
            </a:fld>
            <a:endParaRPr lang="en-NZ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265A929-4E73-3E29-835D-3C50DBE0F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Objective: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23FF7128-236E-CFF4-F8FD-0B194E3F5FD8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1167110" y="1209033"/>
            <a:ext cx="5472652" cy="44399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multi-protocol wireless analysis device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Integrate: </a:t>
            </a:r>
          </a:p>
          <a:p>
            <a:pPr marL="528638" lvl="1" indent="-28575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Wi-Fi scanning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(monitor mode) </a:t>
            </a:r>
          </a:p>
          <a:p>
            <a:pPr marL="528638" lvl="1" indent="-28575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Bluetooth scanning </a:t>
            </a:r>
          </a:p>
          <a:p>
            <a:pPr marL="528638" lvl="1" indent="-285750"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SDR signal reception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Create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portable system using a power bank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logging and display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user-friendly interface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2543440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EEF8F0A-4A78-5629-0D87-5BA19592926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9</a:t>
            </a:fld>
            <a:endParaRPr lang="en-NZ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FD5A6EA-113B-B1A3-55B6-F058C1707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work: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EB041FB8-15F2-5C8F-0025-351EC0E8F125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990600" y="1122471"/>
            <a:ext cx="4211409" cy="46130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Build a device called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RasFlipper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 Raspberry Pi as the main controller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Connect modules: </a:t>
            </a:r>
          </a:p>
          <a:p>
            <a:pPr marL="528638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Wi-Fi adapter (monitor mode) </a:t>
            </a:r>
          </a:p>
          <a:p>
            <a:pPr marL="528638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Bluetooth dongle  </a:t>
            </a:r>
          </a:p>
          <a:p>
            <a:pPr marL="528638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RTL-SDR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output on TFT touchscreen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Implement: </a:t>
            </a:r>
          </a:p>
          <a:p>
            <a:pPr marL="528638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Scanning </a:t>
            </a:r>
          </a:p>
          <a:p>
            <a:pPr marL="528638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Logging </a:t>
            </a:r>
          </a:p>
          <a:p>
            <a:pPr marL="528638" lvl="1" indent="-285750"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visualisation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BA6F659-DEAC-C9F5-F74B-DB163703B9B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05600" y="1676400"/>
            <a:ext cx="5038557" cy="2834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569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AF5DB29-F148-C6BB-89A0-F23F5B092A1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400" y="1471840"/>
            <a:ext cx="5112568" cy="4319360"/>
          </a:xfrm>
        </p:spPr>
        <p:txBody>
          <a:bodyPr/>
          <a:lstStyle/>
          <a:p>
            <a:pPr marL="0" indent="0"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Components: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4 (main processor)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TFT Display (UI)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Wi-Fi Adapter (monitor mode)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Bluetooth Dongle 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RTL-SDR (RF scanning) </a:t>
            </a:r>
          </a:p>
          <a:p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 Bank (portable power)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41FEAA-4ED7-86EE-1517-8AB779C088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6557" y="914400"/>
            <a:ext cx="5112568" cy="4319360"/>
          </a:xfrm>
        </p:spPr>
        <p:txBody>
          <a:bodyPr/>
          <a:lstStyle/>
          <a:p>
            <a:pPr marL="0" indent="0" algn="just">
              <a:buNone/>
            </a:pPr>
            <a:r>
              <a:rPr lang="en-IN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Software Flow: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boots from microSD 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 initialised 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selects function: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Wi-Fi scan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Bluetooth scan 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SDR scam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collected 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Logs saved (CSV) </a:t>
            </a:r>
          </a:p>
          <a:p>
            <a:pPr algn="just"/>
            <a:r>
              <a:rPr lang="en-IN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Output displayed on screen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BD56481-765F-0369-7629-1A5C2F154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METHODOLOGY: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78D6AE0-8596-9429-C67A-E201ECF6797B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10</a:t>
            </a:fld>
            <a:endParaRPr lang="en-NZ" dirty="0"/>
          </a:p>
        </p:txBody>
      </p:sp>
    </p:spTree>
    <p:extLst>
      <p:ext uri="{BB962C8B-B14F-4D97-AF65-F5344CB8AC3E}">
        <p14:creationId xmlns:p14="http://schemas.microsoft.com/office/powerpoint/2010/main" val="30357395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155B360-D516-1BED-C187-DA21820F1BF2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11</a:t>
            </a:fld>
            <a:endParaRPr lang="en-N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C5BF34-5677-2987-F06E-FD71F84F37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2725" y="258376"/>
            <a:ext cx="6238875" cy="560902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5A7CB2C-87ED-0882-41B6-837AF67C0142}"/>
              </a:ext>
            </a:extLst>
          </p:cNvPr>
          <p:cNvSpPr txBox="1"/>
          <p:nvPr/>
        </p:nvSpPr>
        <p:spPr>
          <a:xfrm>
            <a:off x="3733800" y="152400"/>
            <a:ext cx="4038600" cy="381000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dirty="0"/>
              <a:t>METHODOLOGY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190174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398B21B-C9E5-3F54-B8CD-BC87A14B2B87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12</a:t>
            </a:fld>
            <a:endParaRPr lang="en-NZ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FA63DB-08A3-4918-1E8B-D980D1E2B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993E1F-5720-D83B-BB2A-D8D6E35DBF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17661" y="1411705"/>
            <a:ext cx="10801201" cy="432048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acts as the central controller</a:t>
            </a: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Modules: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Wi-Fi Adapter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Bluetooth Interface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RTL-SDR Dongle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Python-based unified control system.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IN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Real-time data processing and display.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AB9EF03-72E5-AC9F-9E75-ECF9FA32DA7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9220" y="1447800"/>
            <a:ext cx="59436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2084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00492AB-5835-0EDC-0A1B-1DA816287C6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13</a:t>
            </a:fld>
            <a:endParaRPr lang="en-NZ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E89ADC-379F-3CFA-CBED-F42EE38EFC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RESULTS: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A8B393-1D77-3247-5F69-5B6A7B60CF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99" y="1524000"/>
            <a:ext cx="10801201" cy="432048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Successful Wi-Fi scanning in monitor mode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Bluetooth devices detected with MAC addresses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Combined logging (Bluetooth + MAC) 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SDR Scanning (RF Display)</a:t>
            </a:r>
          </a:p>
          <a:p>
            <a:pPr>
              <a:lnSpc>
                <a:spcPct val="150000"/>
              </a:lnSpc>
            </a:pP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 runs on portable power 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3412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9ED858-41AA-3272-D1FB-80C909B52CD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>
          <a:xfrm>
            <a:off x="11367146" y="6077743"/>
            <a:ext cx="596254" cy="401638"/>
          </a:xfrm>
        </p:spPr>
        <p:txBody>
          <a:bodyPr/>
          <a:lstStyle/>
          <a:p>
            <a:fld id="{45A3C14A-F937-4231-B6F1-40B429FAFB2F}" type="slidenum">
              <a:rPr lang="en-NZ" smtClean="0"/>
              <a:pPr/>
              <a:t>14</a:t>
            </a:fld>
            <a:endParaRPr lang="en-NZ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970DC0E5-43A1-1527-98FE-7F613E295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53876"/>
            <a:ext cx="8524800" cy="922022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ea typeface="Jost" pitchFamily="2" charset="0"/>
                <a:cs typeface="Times New Roman" panose="02020603050405020304" pitchFamily="18" charset="0"/>
              </a:rPr>
              <a:t>Requirement and Cost Analysis</a:t>
            </a:r>
            <a:endParaRPr lang="en-IN" b="1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5E0F0F8-399A-4B8C-7FBE-D6C7024ABFA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7545198"/>
              </p:ext>
            </p:extLst>
          </p:nvPr>
        </p:nvGraphicFramePr>
        <p:xfrm>
          <a:off x="1219200" y="1275898"/>
          <a:ext cx="9220200" cy="421050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73418">
                  <a:extLst>
                    <a:ext uri="{9D8B030D-6E8A-4147-A177-3AD203B41FA5}">
                      <a16:colId xmlns:a16="http://schemas.microsoft.com/office/drawing/2014/main" val="2772896177"/>
                    </a:ext>
                  </a:extLst>
                </a:gridCol>
                <a:gridCol w="1736682">
                  <a:extLst>
                    <a:ext uri="{9D8B030D-6E8A-4147-A177-3AD203B41FA5}">
                      <a16:colId xmlns:a16="http://schemas.microsoft.com/office/drawing/2014/main" val="650962192"/>
                    </a:ext>
                  </a:extLst>
                </a:gridCol>
                <a:gridCol w="2620811">
                  <a:extLst>
                    <a:ext uri="{9D8B030D-6E8A-4147-A177-3AD203B41FA5}">
                      <a16:colId xmlns:a16="http://schemas.microsoft.com/office/drawing/2014/main" val="1226049998"/>
                    </a:ext>
                  </a:extLst>
                </a:gridCol>
                <a:gridCol w="1989289">
                  <a:extLst>
                    <a:ext uri="{9D8B030D-6E8A-4147-A177-3AD203B41FA5}">
                      <a16:colId xmlns:a16="http://schemas.microsoft.com/office/drawing/2014/main" val="1481654614"/>
                    </a:ext>
                  </a:extLst>
                </a:gridCol>
              </a:tblGrid>
              <a:tr h="1015612"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  <a:endParaRPr lang="en-IN" sz="1800" b="1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Quantity</a:t>
                      </a:r>
                      <a:endParaRPr lang="en-IN" sz="1800" b="1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Approx. Cost(INR)</a:t>
                      </a:r>
                      <a:endParaRPr lang="en-IN" sz="1800" b="1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200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8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  <a:endParaRPr lang="en-IN" sz="1800" b="1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69278217"/>
                  </a:ext>
                </a:extLst>
              </a:tr>
              <a:tr h="472837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Raspberry Pi4 (4GB)</a:t>
                      </a:r>
                      <a:endParaRPr lang="en-IN" sz="120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5,300.00</a:t>
                      </a:r>
                      <a:endParaRPr lang="en-IN" sz="120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Controller</a:t>
                      </a:r>
                      <a:endParaRPr lang="en-IN" sz="120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0030831"/>
                  </a:ext>
                </a:extLst>
              </a:tr>
              <a:tr h="5206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Monitor-mode Wi-Fi Adapter (AR9271)</a:t>
                      </a:r>
                      <a:endParaRPr lang="en-IN" sz="120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1,450.00</a:t>
                      </a:r>
                      <a:endParaRPr lang="en-IN" sz="120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Wi-Fi Scanning</a:t>
                      </a:r>
                      <a:endParaRPr lang="en-IN" sz="120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4866008"/>
                  </a:ext>
                </a:extLst>
              </a:tr>
              <a:tr h="5206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Bluetooth/BLE USB Dongle</a:t>
                      </a:r>
                      <a:endParaRPr lang="en-IN" sz="120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450.00</a:t>
                      </a:r>
                      <a:endParaRPr lang="en-IN" sz="120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Bluetooth Scanning</a:t>
                      </a:r>
                      <a:endParaRPr lang="en-IN" sz="120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27709313"/>
                  </a:ext>
                </a:extLst>
              </a:tr>
              <a:tr h="5206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RTL-SDR Dongle (RX Only)</a:t>
                      </a:r>
                      <a:endParaRPr lang="en-IN" sz="120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5,985.00</a:t>
                      </a:r>
                      <a:endParaRPr lang="en-IN" sz="120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RF Signal Reception</a:t>
                      </a:r>
                      <a:endParaRPr lang="en-IN" sz="120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98746796"/>
                  </a:ext>
                </a:extLst>
              </a:tr>
              <a:tr h="639625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 TFT Touch Screen</a:t>
                      </a:r>
                      <a:endParaRPr lang="en-IN" sz="120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1,289.00</a:t>
                      </a:r>
                      <a:endParaRPr lang="en-IN" sz="120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 &amp; UI</a:t>
                      </a:r>
                      <a:endParaRPr lang="en-IN" sz="120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35494885"/>
                  </a:ext>
                </a:extLst>
              </a:tr>
              <a:tr h="52060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MicroSD Card(64GB, A1/A2)</a:t>
                      </a:r>
                      <a:endParaRPr lang="en-IN" sz="120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IN" sz="120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200.00</a:t>
                      </a:r>
                      <a:endParaRPr lang="en-IN" sz="120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  <a:tabLst>
                          <a:tab pos="857250" algn="l"/>
                        </a:tabLst>
                      </a:pPr>
                      <a:r>
                        <a:rPr lang="en-US" sz="13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Storage</a:t>
                      </a:r>
                      <a:endParaRPr lang="en-IN" sz="1200" dirty="0">
                        <a:solidFill>
                          <a:srgbClr val="00000A"/>
                        </a:solidFill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36064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9479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66A7101-C03B-7817-ED28-B504719D2369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15</a:t>
            </a:fld>
            <a:endParaRPr lang="en-NZ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DFD25A-F8B3-1A58-EB34-7ADA096B68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09600"/>
            <a:ext cx="6211927" cy="838202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CONCLUSION: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C4E23244-0D7B-3D19-A994-F5F7D602887A}"/>
              </a:ext>
            </a:extLst>
          </p:cNvPr>
          <p:cNvSpPr>
            <a:spLocks noGrp="1" noChangeArrowheads="1"/>
          </p:cNvSpPr>
          <p:nvPr>
            <p:ph type="body" sz="quarter" idx="17"/>
          </p:nvPr>
        </p:nvSpPr>
        <p:spPr bwMode="auto">
          <a:xfrm>
            <a:off x="1066800" y="1583078"/>
            <a:ext cx="9525000" cy="3691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RASFLIPPER is a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low-cost, portable multi-protocol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pentesting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toolkit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Wi-Fi, Bluetooth, and SDR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into a single platform.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Enables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real-time wireless analysis and data logging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Built using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Raspberry Pi and Python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ensuring flexibility and scalability.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Modular design allows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easy expansion and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customisation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285750" marR="0" lvl="0" indent="-285750" algn="just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hands-on learning in wireless security and cybersecurity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2936165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9193D31-7D88-7C9E-B21C-111DC302B56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16</a:t>
            </a:fld>
            <a:endParaRPr lang="en-NZ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B7312C6-22D3-70CF-7A92-B22C941EC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3BF35AD-A821-568B-0FA7-341DC6CC0DE0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95399" y="1233988"/>
            <a:ext cx="10801201" cy="4320480"/>
          </a:xfrm>
        </p:spPr>
        <p:txBody>
          <a:bodyPr/>
          <a:lstStyle/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S. Fluhrer, I. Mantin, and A. Shamir, “Weaknesses in the Key Scheduling Algorithm of RC4,” in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Selected Areas in Cryptography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2001.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E. Tews, R. Weinmann, and A. Pyshkin, “Breaking 104-bit WEP in less than 60 seconds,” in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WISA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2007.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R. Messier,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Wireless Network Security: A Beginner’s Guide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McGraw-Hill, 2013.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Vanhoef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and F. </a:t>
            </a:r>
            <a:r>
              <a:rPr lang="en-US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Piessens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“Key Reinstallation Attacks: Forcing Nonce Reuse in WPA2,” in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Proc. ACM CCS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2017.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J. Mitola, “The Software Radio Architecture,”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IEEE Communications Magazine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vol. 33, no. 5, pp. 26–38, 1995.</a:t>
            </a:r>
          </a:p>
          <a:p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M. Reddy et al., “Wireless Penetration Testing using Raspberry Pi Platforms,” </a:t>
            </a:r>
            <a:r>
              <a:rPr lang="en-US" i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Cybersecurity</a:t>
            </a:r>
            <a:r>
              <a:rPr lang="en-US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2021.</a:t>
            </a:r>
            <a:endParaRPr lang="en-I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42924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63E9CCC-0641-E2BA-F152-4830A6A840A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45A3C14A-F937-4231-B6F1-40B429FAFB2F}" type="slidenum">
              <a:rPr lang="en-NZ" smtClean="0"/>
              <a:pPr/>
              <a:t>17</a:t>
            </a:fld>
            <a:endParaRPr lang="en-NZ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6D0B45-3959-6425-F189-56C9426EE4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" y="93592"/>
            <a:ext cx="11387672" cy="66120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33012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A Powerpoint Template - NEW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EBDFED05-017B-4836-B0DB-AE3C52F537F7}"/>
    </a:ext>
  </a:extLst>
</a:theme>
</file>

<file path=ppt/theme/theme2.xml><?xml version="1.0" encoding="utf-8"?>
<a:theme xmlns:a="http://schemas.openxmlformats.org/drawingml/2006/main" name="Agenda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F0A92FE3-D7C5-4C54-A449-399ABA4DE160}"/>
    </a:ext>
  </a:extLst>
</a:theme>
</file>

<file path=ppt/theme/theme3.xml><?xml version="1.0" encoding="utf-8"?>
<a:theme xmlns:a="http://schemas.openxmlformats.org/drawingml/2006/main" name="Divider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666DB7F9-18A3-46D1-8B74-7997BF6E6E1A}"/>
    </a:ext>
  </a:extLst>
</a:theme>
</file>

<file path=ppt/theme/theme4.xml><?xml version="1.0" encoding="utf-8"?>
<a:theme xmlns:a="http://schemas.openxmlformats.org/drawingml/2006/main" name="Media / Video Slid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CA91B449-65BD-4337-8C8B-EDD4DF4FB145}"/>
    </a:ext>
  </a:extLst>
</a:theme>
</file>

<file path=ppt/theme/theme5.xml><?xml version="1.0" encoding="utf-8"?>
<a:theme xmlns:a="http://schemas.openxmlformats.org/drawingml/2006/main" name="Copy Slides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756B89AD-C4AD-4933-8C3F-5C0ACD786FCF}"/>
    </a:ext>
  </a:extLst>
</a:theme>
</file>

<file path=ppt/theme/theme6.xml><?xml version="1.0" encoding="utf-8"?>
<a:theme xmlns:a="http://schemas.openxmlformats.org/drawingml/2006/main" name="Copy and Imag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81131F54-1D35-4A70-8D49-32796AEE1634}"/>
    </a:ext>
  </a:extLst>
</a:theme>
</file>

<file path=ppt/theme/theme7.xml><?xml version="1.0" encoding="utf-8"?>
<a:theme xmlns:a="http://schemas.openxmlformats.org/drawingml/2006/main" name="Table &amp; Graphs Slide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CB33B207-9E41-4103-934B-507A6334F25D}"/>
    </a:ext>
  </a:extLst>
</a:theme>
</file>

<file path=ppt/theme/theme8.xml><?xml version="1.0" encoding="utf-8"?>
<a:theme xmlns:a="http://schemas.openxmlformats.org/drawingml/2006/main" name="Flow Slides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1841CBEA-4B67-42D5-9327-9677E36191A1}"/>
    </a:ext>
  </a:extLst>
</a:theme>
</file>

<file path=ppt/theme/theme9.xml><?xml version="1.0" encoding="utf-8"?>
<a:theme xmlns:a="http://schemas.openxmlformats.org/drawingml/2006/main" name="Thank You ">
  <a:themeElements>
    <a:clrScheme name="Lexus 3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0082B2"/>
      </a:accent2>
      <a:accent3>
        <a:srgbClr val="70AD47"/>
      </a:accent3>
      <a:accent4>
        <a:srgbClr val="A8B654"/>
      </a:accent4>
      <a:accent5>
        <a:srgbClr val="F8F8AD"/>
      </a:accent5>
      <a:accent6>
        <a:srgbClr val="CAB6D8"/>
      </a:accent6>
      <a:hlink>
        <a:srgbClr val="48367D"/>
      </a:hlink>
      <a:folHlink>
        <a:srgbClr val="A5A5A5"/>
      </a:folHlink>
    </a:clrScheme>
    <a:fontScheme name="ユーザー定義 1">
      <a:majorFont>
        <a:latin typeface="Nobel-Book"/>
        <a:ea typeface="レクサスロダン Pro L"/>
        <a:cs typeface=""/>
      </a:majorFont>
      <a:minorFont>
        <a:latin typeface="Nobel-Book"/>
        <a:ea typeface="レクサスロダン Pro L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 REVISED TEMPLATE_PPTs" id="{7381F66E-D0A1-41EA-8898-917805D76D91}" vid="{9A8F878D-D9DE-4D31-BC23-1B7BE9984A7B}"/>
    </a:ext>
  </a:extLst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SP_Nobel">
      <a:majorFont>
        <a:latin typeface="Nobel-Book"/>
        <a:ea typeface="ＭＳ Ｐゴシック"/>
        <a:cs typeface=""/>
      </a:majorFont>
      <a:minorFont>
        <a:latin typeface="Nobel-Book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MSP_Nobel">
      <a:majorFont>
        <a:latin typeface="Nobel-Book"/>
        <a:ea typeface="ＭＳ Ｐゴシック"/>
        <a:cs typeface=""/>
      </a:majorFont>
      <a:minorFont>
        <a:latin typeface="Nobel-Book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60ADC236C7AC742BB0BFCA0FFECEA3A" ma:contentTypeVersion="0" ma:contentTypeDescription="Create a new document." ma:contentTypeScope="" ma:versionID="6b302963b2d4f2b039b5a5db900d0a6b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b05d82d297216baf5b26c55225140df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4916671-0E7D-4594-8037-60C70BF44351}">
  <ds:schemaRefs>
    <ds:schemaRef ds:uri="http://schemas.openxmlformats.org/package/2006/metadata/core-properties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www.w3.org/XML/1998/namespace"/>
    <ds:schemaRef ds:uri="http://purl.org/dc/elements/1.1/"/>
    <ds:schemaRef ds:uri="http://schemas.microsoft.com/office/infopath/2007/PartnerControl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5A6C91B7-41B2-43A3-A2C0-738920E68A3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F9AE24FE-195A-4977-9740-21B0E7B6E42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REVA REVISED TEMPLATE_PPTs</Template>
  <TotalTime>163</TotalTime>
  <Words>825</Words>
  <Application>Microsoft Office PowerPoint</Application>
  <PresentationFormat>Widescreen</PresentationFormat>
  <Paragraphs>163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9</vt:i4>
      </vt:variant>
      <vt:variant>
        <vt:lpstr>Slide Titles</vt:lpstr>
      </vt:variant>
      <vt:variant>
        <vt:i4>18</vt:i4>
      </vt:variant>
    </vt:vector>
  </HeadingPairs>
  <TitlesOfParts>
    <vt:vector size="31" baseType="lpstr">
      <vt:lpstr>Arial</vt:lpstr>
      <vt:lpstr>Nobel-Book</vt:lpstr>
      <vt:lpstr>Roboto Medium</vt:lpstr>
      <vt:lpstr>Times New Roman</vt:lpstr>
      <vt:lpstr>REVA Powerpoint Template - NEW</vt:lpstr>
      <vt:lpstr>Agenda</vt:lpstr>
      <vt:lpstr>Divider</vt:lpstr>
      <vt:lpstr>Media / Video Slide</vt:lpstr>
      <vt:lpstr>Copy Slides</vt:lpstr>
      <vt:lpstr>Copy and Image</vt:lpstr>
      <vt:lpstr>Table &amp; Graphs Slide</vt:lpstr>
      <vt:lpstr>Flow Slides</vt:lpstr>
      <vt:lpstr>Thank You </vt:lpstr>
      <vt:lpstr>RASFLIPPER-Portable Multi-Protocol Pentest Tool Kit  Final Presentation</vt:lpstr>
      <vt:lpstr>RASFLIPPER-Portable Multi-Protocol Pentesting Tool Kit</vt:lpstr>
      <vt:lpstr>RASFLIPPER-Portable Multi-Protocol Pentesting Tool Kit</vt:lpstr>
      <vt:lpstr>Contents</vt:lpstr>
      <vt:lpstr>Introduction:</vt:lpstr>
      <vt:lpstr>Literature Survey:</vt:lpstr>
      <vt:lpstr>RESEARCH GAP:</vt:lpstr>
      <vt:lpstr>Objective:</vt:lpstr>
      <vt:lpstr>Proposed work:</vt:lpstr>
      <vt:lpstr>METHODOLOGY:</vt:lpstr>
      <vt:lpstr>PowerPoint Presentation</vt:lpstr>
      <vt:lpstr>Architecture:</vt:lpstr>
      <vt:lpstr>RESULTS:</vt:lpstr>
      <vt:lpstr>Requirement and Cost Analysis</vt:lpstr>
      <vt:lpstr>CONCLUSION:</vt:lpstr>
      <vt:lpstr>References: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 - Synopsis (Phase 1 Review 1)</dc:title>
  <dc:creator>REVA00218</dc:creator>
  <cp:lastModifiedBy>Deekshith V</cp:lastModifiedBy>
  <cp:revision>15</cp:revision>
  <cp:lastPrinted>2018-09-28T07:11:06Z</cp:lastPrinted>
  <dcterms:created xsi:type="dcterms:W3CDTF">2022-06-10T03:29:01Z</dcterms:created>
  <dcterms:modified xsi:type="dcterms:W3CDTF">2026-05-22T09:27:59Z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0x010100B60ADC236C7AC742BB0BFCA0FFECEA3A</vt:lpwstr>
  </property>
</Properties>
</file>